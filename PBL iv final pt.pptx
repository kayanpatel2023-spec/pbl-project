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8" r:id="rId5"/>
    <p:sldId id="259" r:id="rId6"/>
    <p:sldId id="269" r:id="rId7"/>
    <p:sldId id="260" r:id="rId8"/>
    <p:sldId id="262" r:id="rId9"/>
    <p:sldId id="261" r:id="rId10"/>
    <p:sldId id="270" r:id="rId11"/>
    <p:sldId id="271" r:id="rId12"/>
    <p:sldId id="273" r:id="rId13"/>
    <p:sldId id="272" r:id="rId14"/>
    <p:sldId id="274" r:id="rId15"/>
    <p:sldId id="267"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84"/>
  </p:normalViewPr>
  <p:slideViewPr>
    <p:cSldViewPr snapToGrid="0">
      <p:cViewPr varScale="1">
        <p:scale>
          <a:sx n="88" d="100"/>
          <a:sy n="88" d="100"/>
        </p:scale>
        <p:origin x="208" y="9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B57B3C-90F6-444C-9AB7-902D8D1647FE}"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33982D-EA43-F441-97C0-6CEB9DAEA017}" type="slidenum">
              <a:rPr lang="en-US" smtClean="0"/>
              <a:t>‹#›</a:t>
            </a:fld>
            <a:endParaRPr lang="en-US"/>
          </a:p>
        </p:txBody>
      </p:sp>
    </p:spTree>
    <p:extLst>
      <p:ext uri="{BB962C8B-B14F-4D97-AF65-F5344CB8AC3E}">
        <p14:creationId xmlns:p14="http://schemas.microsoft.com/office/powerpoint/2010/main" val="2056502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33982D-EA43-F441-97C0-6CEB9DAEA017}" type="slidenum">
              <a:rPr lang="en-US" smtClean="0"/>
              <a:t>12</a:t>
            </a:fld>
            <a:endParaRPr lang="en-US"/>
          </a:p>
        </p:txBody>
      </p:sp>
    </p:spTree>
    <p:extLst>
      <p:ext uri="{BB962C8B-B14F-4D97-AF65-F5344CB8AC3E}">
        <p14:creationId xmlns:p14="http://schemas.microsoft.com/office/powerpoint/2010/main" val="3037538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14/04/26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14/04/26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3464" y="2555956"/>
            <a:ext cx="9144000" cy="1222745"/>
          </a:xfrm>
        </p:spPr>
        <p:txBody>
          <a:bodyPr>
            <a:noAutofit/>
          </a:bodyPr>
          <a:lstStyle/>
          <a:p>
            <a:r>
              <a:rPr lang="en-IN" sz="4000" dirty="0"/>
              <a:t>“Multi Modal Fashion Trend Analysis using Ensemble Model”</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Kayan Patel</a:t>
            </a:r>
          </a:p>
          <a:p>
            <a:r>
              <a:rPr lang="en-IN" dirty="0"/>
              <a:t>23FE10CSE00149</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Praneet Saurabh</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572493" y="238539"/>
            <a:ext cx="11018520" cy="1434415"/>
          </a:xfrm>
        </p:spPr>
        <p:txBody>
          <a:bodyPr anchor="b">
            <a:normAutofit/>
          </a:bodyPr>
          <a:lstStyle/>
          <a:p>
            <a:r>
              <a:rPr lang="en-IN" sz="5400"/>
              <a:t>Introduction</a:t>
            </a:r>
          </a:p>
        </p:txBody>
      </p:sp>
      <p:sp>
        <p:nvSpPr>
          <p:cNvPr id="103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546B8EB6-75DE-D615-B15E-D007C88224B6}"/>
              </a:ext>
            </a:extLst>
          </p:cNvPr>
          <p:cNvSpPr>
            <a:spLocks noGrp="1" noChangeArrowheads="1"/>
          </p:cNvSpPr>
          <p:nvPr>
            <p:ph idx="1"/>
          </p:nvPr>
        </p:nvSpPr>
        <p:spPr bwMode="auto">
          <a:xfrm>
            <a:off x="572493" y="2071316"/>
            <a:ext cx="6713552"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fontScale="85000" lnSpcReduction="10000"/>
          </a:bodyPr>
          <a:lstStyle/>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Fashion trend prediction plays a crucial role in the apparel industry for making data-driven decisions.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With the growth of e-commerce and social media, large volumes of data are generated in the form of images, customer reviews, and purchase history.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Traditional approaches rely on manual analysis or single-source data, which limits prediction accuracy.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Fashion trends are influenced by multiple factors such as visual appearance, customer sentiment, and temporal patterns. </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0" i="0" u="none" strike="noStrike" cap="none" normalizeH="0" baseline="0" dirty="0">
                <a:ln>
                  <a:noFill/>
                </a:ln>
                <a:effectLst/>
                <a:latin typeface="Arial" panose="020B0604020202020204" pitchFamily="34" charset="0"/>
              </a:rPr>
              <a:t>Therefore, there is a need for an intelligent system that can analyze multiple data sources simultaneously.</a:t>
            </a:r>
          </a:p>
        </p:txBody>
      </p:sp>
      <p:pic>
        <p:nvPicPr>
          <p:cNvPr id="1027" name="Picture 3" descr="AI-Enhanced Trend Forecasting abstract concept vector illustration.">
            <a:extLst>
              <a:ext uri="{FF2B5EF4-FFF2-40B4-BE49-F238E27FC236}">
                <a16:creationId xmlns:a16="http://schemas.microsoft.com/office/drawing/2014/main" id="{82C98DD1-C636-ED85-2E57-86A6C54B4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348" r="6180" b="-2"/>
          <a:stretch>
            <a:fillRect/>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6" name="Rectangle 205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58" name="Arc 205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8308A0-91DB-6119-027F-AA2C71A512C6}"/>
              </a:ext>
            </a:extLst>
          </p:cNvPr>
          <p:cNvSpPr>
            <a:spLocks noGrp="1"/>
          </p:cNvSpPr>
          <p:nvPr>
            <p:ph type="title"/>
          </p:nvPr>
        </p:nvSpPr>
        <p:spPr>
          <a:xfrm>
            <a:off x="5894962" y="479493"/>
            <a:ext cx="5458838" cy="1325563"/>
          </a:xfrm>
        </p:spPr>
        <p:txBody>
          <a:bodyPr>
            <a:normAutofit/>
          </a:bodyPr>
          <a:lstStyle/>
          <a:p>
            <a:r>
              <a:rPr lang="en-US" dirty="0"/>
              <a:t>Approach</a:t>
            </a:r>
          </a:p>
        </p:txBody>
      </p:sp>
      <p:sp>
        <p:nvSpPr>
          <p:cNvPr id="2060" name="Freeform: Shape 205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1" name="Picture 3" descr="From Bagging to XGBoost. Real-World Lessons in Handling Complex… | by Shyam Sundar | The Pythoneers | Medium">
            <a:extLst>
              <a:ext uri="{FF2B5EF4-FFF2-40B4-BE49-F238E27FC236}">
                <a16:creationId xmlns:a16="http://schemas.microsoft.com/office/drawing/2014/main" id="{E16E7336-CC3E-F302-0960-EB296CDDF6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3182" y="1749677"/>
            <a:ext cx="4777381" cy="318890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B5A2365F-D912-0536-BD09-EB91FF9FA6AA}"/>
              </a:ext>
            </a:extLst>
          </p:cNvPr>
          <p:cNvSpPr>
            <a:spLocks noGrp="1" noChangeArrowheads="1"/>
          </p:cNvSpPr>
          <p:nvPr>
            <p:ph idx="1"/>
          </p:nvPr>
        </p:nvSpPr>
        <p:spPr bwMode="auto">
          <a:xfrm>
            <a:off x="5894962" y="1506141"/>
            <a:ext cx="5458838" cy="41925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This work proposes a </a:t>
            </a:r>
            <a:r>
              <a:rPr kumimoji="0" lang="en-US" altLang="en-US" sz="1800" b="1" i="0" u="none" strike="noStrike" cap="none" normalizeH="0" baseline="0" dirty="0">
                <a:ln>
                  <a:noFill/>
                </a:ln>
                <a:effectLst/>
                <a:latin typeface="Arial" panose="020B0604020202020204" pitchFamily="34" charset="0"/>
              </a:rPr>
              <a:t>multi-modal approach</a:t>
            </a:r>
            <a:r>
              <a:rPr kumimoji="0" lang="en-US" altLang="en-US" sz="1800" b="0" i="0" u="none" strike="noStrike" cap="none" normalizeH="0" baseline="0" dirty="0">
                <a:ln>
                  <a:noFill/>
                </a:ln>
                <a:effectLst/>
                <a:latin typeface="Arial" panose="020B0604020202020204" pitchFamily="34" charset="0"/>
              </a:rPr>
              <a:t> for fashion trend prediction. </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The system integrates three types of data: </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Image Data → CNN (visual features)</a:t>
            </a:r>
            <a:r>
              <a:rPr kumimoji="0" lang="en-US" altLang="en-US" sz="18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Text Data → Sentiment Analysis (customer opinions)</a:t>
            </a:r>
            <a:r>
              <a:rPr kumimoji="0" lang="en-US" altLang="en-US" sz="18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Time-Series Data → LSTM (trend patterns over time)</a:t>
            </a:r>
            <a:r>
              <a:rPr kumimoji="0" lang="en-US" altLang="en-US" sz="18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These models are combined using an </a:t>
            </a:r>
            <a:r>
              <a:rPr kumimoji="0" lang="en-US" altLang="en-US" sz="1800" b="1" i="0" u="none" strike="noStrike" cap="none" normalizeH="0" baseline="0" dirty="0">
                <a:ln>
                  <a:noFill/>
                </a:ln>
                <a:effectLst/>
                <a:latin typeface="Arial" panose="020B0604020202020204" pitchFamily="34" charset="0"/>
              </a:rPr>
              <a:t>ensemble technique</a:t>
            </a:r>
            <a:r>
              <a:rPr kumimoji="0" lang="en-US" altLang="en-US" sz="1800" b="0" i="0" u="none" strike="noStrike" cap="none" normalizeH="0" baseline="0" dirty="0">
                <a:ln>
                  <a:noFill/>
                </a:ln>
                <a:effectLst/>
                <a:latin typeface="Arial" panose="020B0604020202020204" pitchFamily="34" charset="0"/>
              </a:rPr>
              <a:t> to improve prediction accuracy. </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The approach captures multiple dimensions of fashion trends, leading to better and more reliable predictions.</a:t>
            </a:r>
          </a:p>
        </p:txBody>
      </p:sp>
    </p:spTree>
    <p:extLst>
      <p:ext uri="{BB962C8B-B14F-4D97-AF65-F5344CB8AC3E}">
        <p14:creationId xmlns:p14="http://schemas.microsoft.com/office/powerpoint/2010/main" val="35600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0" name="Rectangle 307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645064" y="525982"/>
            <a:ext cx="4282983" cy="1200361"/>
          </a:xfrm>
        </p:spPr>
        <p:txBody>
          <a:bodyPr anchor="b">
            <a:normAutofit/>
          </a:bodyPr>
          <a:lstStyle/>
          <a:p>
            <a:r>
              <a:rPr lang="en-IN" sz="3600"/>
              <a:t>Literature Review</a:t>
            </a:r>
          </a:p>
        </p:txBody>
      </p:sp>
      <p:sp>
        <p:nvSpPr>
          <p:cNvPr id="3082" name="Rectangle 308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814D3E8C-A115-3189-A4F3-A3A98B943494}"/>
              </a:ext>
            </a:extLst>
          </p:cNvPr>
          <p:cNvSpPr>
            <a:spLocks noGrp="1" noChangeArrowheads="1"/>
          </p:cNvSpPr>
          <p:nvPr>
            <p:ph idx="1"/>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latin typeface="Arial" panose="020B0604020202020204" pitchFamily="34" charset="0"/>
              </a:rPr>
              <a:t>Fashion trend prediction has been widely studied using machine learning and deep learning techniques. </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latin typeface="Arial" panose="020B0604020202020204" pitchFamily="34" charset="0"/>
              </a:rPr>
              <a:t>CNN models</a:t>
            </a:r>
            <a:r>
              <a:rPr kumimoji="0" lang="en-US" altLang="en-US" sz="1700" b="0" i="0" u="none" strike="noStrike" cap="none" normalizeH="0" baseline="0">
                <a:ln>
                  <a:noFill/>
                </a:ln>
                <a:effectLst/>
                <a:latin typeface="Arial" panose="020B0604020202020204" pitchFamily="34" charset="0"/>
              </a:rPr>
              <a:t> are used for extracting visual features from fashion images. </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latin typeface="Arial" panose="020B0604020202020204" pitchFamily="34" charset="0"/>
              </a:rPr>
              <a:t>NLP techniques</a:t>
            </a:r>
            <a:r>
              <a:rPr kumimoji="0" lang="en-US" altLang="en-US" sz="1700" b="0" i="0" u="none" strike="noStrike" cap="none" normalizeH="0" baseline="0">
                <a:ln>
                  <a:noFill/>
                </a:ln>
                <a:effectLst/>
                <a:latin typeface="Arial" panose="020B0604020202020204" pitchFamily="34" charset="0"/>
              </a:rPr>
              <a:t> such as TF-IDF and Logistic Regression are used for sentiment analysis of customer reviews. </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latin typeface="Arial" panose="020B0604020202020204" pitchFamily="34" charset="0"/>
              </a:rPr>
              <a:t>LSTM models</a:t>
            </a:r>
            <a:r>
              <a:rPr kumimoji="0" lang="en-US" altLang="en-US" sz="1700" b="0" i="0" u="none" strike="noStrike" cap="none" normalizeH="0" baseline="0">
                <a:ln>
                  <a:noFill/>
                </a:ln>
                <a:effectLst/>
                <a:latin typeface="Arial" panose="020B0604020202020204" pitchFamily="34" charset="0"/>
              </a:rPr>
              <a:t> are applied to capture temporal patterns in time-series data. </a:t>
            </a:r>
          </a:p>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latin typeface="Arial" panose="020B0604020202020204" pitchFamily="34" charset="0"/>
              </a:rPr>
              <a:t>Ensemble learning</a:t>
            </a:r>
            <a:r>
              <a:rPr kumimoji="0" lang="en-US" altLang="en-US" sz="1700" b="0" i="0" u="none" strike="noStrike" cap="none" normalizeH="0" baseline="0">
                <a:ln>
                  <a:noFill/>
                </a:ln>
                <a:effectLst/>
                <a:latin typeface="Arial" panose="020B0604020202020204" pitchFamily="34" charset="0"/>
              </a:rPr>
              <a:t> combines multiple models to improve prediction accuracy.</a:t>
            </a:r>
          </a:p>
        </p:txBody>
      </p:sp>
      <p:sp>
        <p:nvSpPr>
          <p:cNvPr id="3084" name="Rectangle 308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6" name="Rectangle 308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Rectangle 308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5" name="Picture 3" descr="What Is Ensemble Modeling In Machine Learning at Brandon Banks blog">
            <a:extLst>
              <a:ext uri="{FF2B5EF4-FFF2-40B4-BE49-F238E27FC236}">
                <a16:creationId xmlns:a16="http://schemas.microsoft.com/office/drawing/2014/main" id="{D7674FFF-BB8E-6915-685D-D9A29C45F6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57344" y="650494"/>
            <a:ext cx="5488806" cy="532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7A10C-6F45-26BD-93AC-4E4DC4AE0597}"/>
              </a:ext>
            </a:extLst>
          </p:cNvPr>
          <p:cNvSpPr>
            <a:spLocks noGrp="1"/>
          </p:cNvSpPr>
          <p:nvPr>
            <p:ph type="title"/>
          </p:nvPr>
        </p:nvSpPr>
        <p:spPr>
          <a:xfrm>
            <a:off x="175260" y="7303135"/>
            <a:ext cx="10515600" cy="1325563"/>
          </a:xfrm>
        </p:spPr>
        <p:txBody>
          <a:bodyPr/>
          <a:lstStyle/>
          <a:p>
            <a:endParaRPr lang="en-US" dirty="0"/>
          </a:p>
        </p:txBody>
      </p:sp>
      <p:sp>
        <p:nvSpPr>
          <p:cNvPr id="3" name="Content Placeholder 2">
            <a:extLst>
              <a:ext uri="{FF2B5EF4-FFF2-40B4-BE49-F238E27FC236}">
                <a16:creationId xmlns:a16="http://schemas.microsoft.com/office/drawing/2014/main" id="{7EA28D5C-6607-729C-8958-EC25B27A71BE}"/>
              </a:ext>
            </a:extLst>
          </p:cNvPr>
          <p:cNvSpPr>
            <a:spLocks noGrp="1"/>
          </p:cNvSpPr>
          <p:nvPr>
            <p:ph idx="1"/>
          </p:nvPr>
        </p:nvSpPr>
        <p:spPr>
          <a:xfrm>
            <a:off x="838200" y="1027906"/>
            <a:ext cx="9403080" cy="4351338"/>
          </a:xfrm>
        </p:spPr>
        <p:txBody>
          <a:bodyPr>
            <a:normAutofit fontScale="92500" lnSpcReduction="20000"/>
          </a:bodyPr>
          <a:lstStyle/>
          <a:p>
            <a:r>
              <a:rPr lang="en-IN" dirty="0"/>
              <a:t>Most existing approaches focus on </a:t>
            </a:r>
            <a:r>
              <a:rPr lang="en-IN" b="1" dirty="0"/>
              <a:t>single data modality</a:t>
            </a:r>
            <a:r>
              <a:rPr lang="en-IN" dirty="0"/>
              <a:t>: </a:t>
            </a:r>
          </a:p>
          <a:p>
            <a:pPr lvl="1"/>
            <a:r>
              <a:rPr lang="en-IN" dirty="0"/>
              <a:t>Only image-based </a:t>
            </a:r>
          </a:p>
          <a:p>
            <a:pPr lvl="1"/>
            <a:r>
              <a:rPr lang="en-IN" dirty="0"/>
              <a:t>Only text-based </a:t>
            </a:r>
          </a:p>
          <a:p>
            <a:pPr lvl="1"/>
            <a:r>
              <a:rPr lang="en-IN" dirty="0"/>
              <a:t>Only time-series </a:t>
            </a:r>
          </a:p>
          <a:p>
            <a:r>
              <a:rPr lang="en-IN" dirty="0"/>
              <a:t>These methods fail to capture the </a:t>
            </a:r>
            <a:r>
              <a:rPr lang="en-IN" b="1" dirty="0"/>
              <a:t>multi-dimensional nature of fashion trends</a:t>
            </a:r>
            <a:r>
              <a:rPr lang="en-IN" dirty="0"/>
              <a:t>. </a:t>
            </a:r>
          </a:p>
          <a:p>
            <a:r>
              <a:rPr lang="en-IN" dirty="0"/>
              <a:t>Limited work has been done in integrating: </a:t>
            </a:r>
          </a:p>
          <a:p>
            <a:pPr lvl="1"/>
            <a:r>
              <a:rPr lang="en-IN" dirty="0"/>
              <a:t>Visual data </a:t>
            </a:r>
          </a:p>
          <a:p>
            <a:pPr lvl="1"/>
            <a:r>
              <a:rPr lang="en-IN" dirty="0"/>
              <a:t>Textual data </a:t>
            </a:r>
          </a:p>
          <a:p>
            <a:pPr lvl="1"/>
            <a:r>
              <a:rPr lang="en-IN" dirty="0"/>
              <a:t>Temporal data </a:t>
            </a:r>
          </a:p>
          <a:p>
            <a:r>
              <a:rPr lang="en-IN" dirty="0"/>
              <a:t>This creates a </a:t>
            </a:r>
            <a:r>
              <a:rPr lang="en-IN" b="1" dirty="0"/>
              <a:t>research gap</a:t>
            </a:r>
            <a:r>
              <a:rPr lang="en-IN" dirty="0"/>
              <a:t> in developing a unified system. </a:t>
            </a:r>
          </a:p>
          <a:p>
            <a:r>
              <a:rPr lang="en-IN" dirty="0"/>
              <a:t>Hence, a </a:t>
            </a:r>
            <a:r>
              <a:rPr lang="en-IN" b="1" dirty="0"/>
              <a:t>multi-modal ensemble approach</a:t>
            </a:r>
            <a:r>
              <a:rPr lang="en-IN" dirty="0"/>
              <a:t> is required for better prediction accuracy. </a:t>
            </a:r>
          </a:p>
          <a:p>
            <a:endParaRPr lang="en-US" dirty="0"/>
          </a:p>
        </p:txBody>
      </p:sp>
    </p:spTree>
    <p:extLst>
      <p:ext uri="{BB962C8B-B14F-4D97-AF65-F5344CB8AC3E}">
        <p14:creationId xmlns:p14="http://schemas.microsoft.com/office/powerpoint/2010/main" val="2217484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F3768FD5-DD7A-43C7-8DEA-1F5DB3CB5B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976746" y="3703975"/>
            <a:ext cx="4337858" cy="2398713"/>
          </a:xfrm>
        </p:spPr>
        <p:txBody>
          <a:bodyPr>
            <a:normAutofit/>
          </a:bodyPr>
          <a:lstStyle/>
          <a:p>
            <a:pPr algn="ctr"/>
            <a:r>
              <a:rPr lang="en-IN" sz="4000"/>
              <a:t>Problem Statement</a:t>
            </a:r>
          </a:p>
        </p:txBody>
      </p:sp>
      <p:pic>
        <p:nvPicPr>
          <p:cNvPr id="4098" name="Picture 2">
            <a:extLst>
              <a:ext uri="{FF2B5EF4-FFF2-40B4-BE49-F238E27FC236}">
                <a16:creationId xmlns:a16="http://schemas.microsoft.com/office/drawing/2014/main" id="{F148F1A9-C21E-28E4-97CF-03D59AC99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3291"/>
          <a:stretch>
            <a:fillRect/>
          </a:stretch>
        </p:blipFill>
        <p:spPr bwMode="auto">
          <a:xfrm>
            <a:off x="2" y="10"/>
            <a:ext cx="12191999" cy="3154014"/>
          </a:xfrm>
          <a:custGeom>
            <a:avLst/>
            <a:gdLst/>
            <a:ahLst/>
            <a:cxnLst/>
            <a:rect l="l" t="t" r="r" b="b"/>
            <a:pathLst>
              <a:path w="12191999" h="3428999">
                <a:moveTo>
                  <a:pt x="0" y="0"/>
                </a:moveTo>
                <a:lnTo>
                  <a:pt x="12191999" y="0"/>
                </a:lnTo>
                <a:lnTo>
                  <a:pt x="12191999" y="920893"/>
                </a:lnTo>
                <a:lnTo>
                  <a:pt x="12191999" y="1514929"/>
                </a:lnTo>
                <a:lnTo>
                  <a:pt x="12191999" y="3130902"/>
                </a:lnTo>
                <a:lnTo>
                  <a:pt x="12188051" y="3131476"/>
                </a:lnTo>
                <a:cubicBezTo>
                  <a:pt x="12153000" y="3135813"/>
                  <a:pt x="12133655" y="3136025"/>
                  <a:pt x="12112012" y="3138906"/>
                </a:cubicBezTo>
                <a:cubicBezTo>
                  <a:pt x="12076970" y="3145595"/>
                  <a:pt x="12039899" y="3160769"/>
                  <a:pt x="12018752" y="3165642"/>
                </a:cubicBezTo>
                <a:lnTo>
                  <a:pt x="11985122" y="3168147"/>
                </a:lnTo>
                <a:lnTo>
                  <a:pt x="11986344" y="3172878"/>
                </a:lnTo>
                <a:lnTo>
                  <a:pt x="11973852" y="3173226"/>
                </a:lnTo>
                <a:lnTo>
                  <a:pt x="11945968" y="3173341"/>
                </a:lnTo>
                <a:cubicBezTo>
                  <a:pt x="11928568" y="3174057"/>
                  <a:pt x="11880184" y="3172923"/>
                  <a:pt x="11862470" y="3174654"/>
                </a:cubicBezTo>
                <a:cubicBezTo>
                  <a:pt x="11857360" y="3179700"/>
                  <a:pt x="11849473" y="3182451"/>
                  <a:pt x="11839688" y="3183726"/>
                </a:cubicBezTo>
                <a:lnTo>
                  <a:pt x="11818138" y="3183868"/>
                </a:lnTo>
                <a:lnTo>
                  <a:pt x="11693161" y="3196027"/>
                </a:lnTo>
                <a:lnTo>
                  <a:pt x="11675978" y="3196936"/>
                </a:lnTo>
                <a:lnTo>
                  <a:pt x="11666672" y="3201013"/>
                </a:lnTo>
                <a:cubicBezTo>
                  <a:pt x="11659568" y="3201827"/>
                  <a:pt x="11639160" y="3201301"/>
                  <a:pt x="11633348" y="3201823"/>
                </a:cubicBezTo>
                <a:lnTo>
                  <a:pt x="11631806" y="3204144"/>
                </a:lnTo>
                <a:cubicBezTo>
                  <a:pt x="11613292" y="3207852"/>
                  <a:pt x="11543654" y="3220200"/>
                  <a:pt x="11522270" y="3224070"/>
                </a:cubicBezTo>
                <a:cubicBezTo>
                  <a:pt x="11517998" y="3220503"/>
                  <a:pt x="11508432" y="3226137"/>
                  <a:pt x="11503503" y="3227361"/>
                </a:cubicBezTo>
                <a:cubicBezTo>
                  <a:pt x="11502740" y="3224959"/>
                  <a:pt x="11490808" y="3224226"/>
                  <a:pt x="11487288" y="3226364"/>
                </a:cubicBezTo>
                <a:cubicBezTo>
                  <a:pt x="11403406" y="3238085"/>
                  <a:pt x="11445394" y="3213864"/>
                  <a:pt x="11397514" y="3229209"/>
                </a:cubicBezTo>
                <a:cubicBezTo>
                  <a:pt x="11389044" y="3230225"/>
                  <a:pt x="11382180" y="3229256"/>
                  <a:pt x="11376160" y="3227461"/>
                </a:cubicBezTo>
                <a:lnTo>
                  <a:pt x="11367180" y="3223774"/>
                </a:lnTo>
                <a:lnTo>
                  <a:pt x="11332420" y="3230742"/>
                </a:lnTo>
                <a:cubicBezTo>
                  <a:pt x="11315298" y="3233171"/>
                  <a:pt x="11297277" y="3234781"/>
                  <a:pt x="11278786" y="3235517"/>
                </a:cubicBezTo>
                <a:cubicBezTo>
                  <a:pt x="11274637" y="3230607"/>
                  <a:pt x="11260123" y="3237582"/>
                  <a:pt x="11253295" y="3238964"/>
                </a:cubicBezTo>
                <a:cubicBezTo>
                  <a:pt x="11253224" y="3235757"/>
                  <a:pt x="11238096" y="3234220"/>
                  <a:pt x="11232727" y="3236871"/>
                </a:cubicBezTo>
                <a:cubicBezTo>
                  <a:pt x="11119903" y="3248332"/>
                  <a:pt x="11183388" y="3218382"/>
                  <a:pt x="11115682" y="3236341"/>
                </a:cubicBezTo>
                <a:cubicBezTo>
                  <a:pt x="11104356" y="3237278"/>
                  <a:pt x="11095858" y="3235671"/>
                  <a:pt x="11088768" y="3233017"/>
                </a:cubicBezTo>
                <a:lnTo>
                  <a:pt x="11076012" y="3226390"/>
                </a:lnTo>
                <a:lnTo>
                  <a:pt x="11066016" y="3228753"/>
                </a:lnTo>
                <a:cubicBezTo>
                  <a:pt x="11028292" y="3228939"/>
                  <a:pt x="11017169" y="3222147"/>
                  <a:pt x="10995221" y="3228989"/>
                </a:cubicBezTo>
                <a:cubicBezTo>
                  <a:pt x="10962786" y="3214768"/>
                  <a:pt x="10973708" y="3227571"/>
                  <a:pt x="10949038" y="3229747"/>
                </a:cubicBezTo>
                <a:cubicBezTo>
                  <a:pt x="10929576" y="3232582"/>
                  <a:pt x="10965306" y="3238039"/>
                  <a:pt x="10946231" y="3238844"/>
                </a:cubicBezTo>
                <a:cubicBezTo>
                  <a:pt x="10925596" y="3235173"/>
                  <a:pt x="10926566" y="3246575"/>
                  <a:pt x="10905107" y="3242085"/>
                </a:cubicBezTo>
                <a:cubicBezTo>
                  <a:pt x="10910320" y="3233495"/>
                  <a:pt x="10862761" y="3243750"/>
                  <a:pt x="10861282" y="3236246"/>
                </a:cubicBezTo>
                <a:cubicBezTo>
                  <a:pt x="10843055" y="3246977"/>
                  <a:pt x="10833897" y="3233757"/>
                  <a:pt x="10809627" y="3237064"/>
                </a:cubicBezTo>
                <a:cubicBezTo>
                  <a:pt x="10798198" y="3241124"/>
                  <a:pt x="10789952" y="3241821"/>
                  <a:pt x="10778718" y="3237455"/>
                </a:cubicBezTo>
                <a:cubicBezTo>
                  <a:pt x="10726069" y="3257219"/>
                  <a:pt x="10746866" y="3238339"/>
                  <a:pt x="10697595" y="3245939"/>
                </a:cubicBezTo>
                <a:cubicBezTo>
                  <a:pt x="10655146" y="3253933"/>
                  <a:pt x="10607026" y="3259119"/>
                  <a:pt x="10565970" y="3278201"/>
                </a:cubicBezTo>
                <a:cubicBezTo>
                  <a:pt x="10558434" y="3283608"/>
                  <a:pt x="10539930" y="3285654"/>
                  <a:pt x="10524645" y="3282773"/>
                </a:cubicBezTo>
                <a:cubicBezTo>
                  <a:pt x="10522018" y="3282276"/>
                  <a:pt x="10519582" y="3281649"/>
                  <a:pt x="10517421" y="3280913"/>
                </a:cubicBezTo>
                <a:cubicBezTo>
                  <a:pt x="10481928" y="3283832"/>
                  <a:pt x="10352108" y="3296870"/>
                  <a:pt x="10311683" y="3300288"/>
                </a:cubicBezTo>
                <a:cubicBezTo>
                  <a:pt x="10308410" y="3293342"/>
                  <a:pt x="10287968" y="3305875"/>
                  <a:pt x="10274873" y="3301423"/>
                </a:cubicBezTo>
                <a:cubicBezTo>
                  <a:pt x="10265494" y="3297516"/>
                  <a:pt x="10257104" y="3300407"/>
                  <a:pt x="10247307" y="3300714"/>
                </a:cubicBezTo>
                <a:cubicBezTo>
                  <a:pt x="10234401" y="3297643"/>
                  <a:pt x="10192308" y="3303190"/>
                  <a:pt x="10181334" y="3307168"/>
                </a:cubicBezTo>
                <a:cubicBezTo>
                  <a:pt x="10155109" y="3320992"/>
                  <a:pt x="10095518" y="3310726"/>
                  <a:pt x="10073729" y="3321318"/>
                </a:cubicBezTo>
                <a:cubicBezTo>
                  <a:pt x="10065823" y="3322872"/>
                  <a:pt x="10058087" y="3323501"/>
                  <a:pt x="10050495" y="3323554"/>
                </a:cubicBezTo>
                <a:lnTo>
                  <a:pt x="10029247" y="3322387"/>
                </a:lnTo>
                <a:lnTo>
                  <a:pt x="10023206" y="3319426"/>
                </a:lnTo>
                <a:lnTo>
                  <a:pt x="10010221" y="3320159"/>
                </a:lnTo>
                <a:lnTo>
                  <a:pt x="10006500" y="3319709"/>
                </a:lnTo>
                <a:cubicBezTo>
                  <a:pt x="9999392" y="3318836"/>
                  <a:pt x="9992376" y="3318075"/>
                  <a:pt x="9985433" y="3317775"/>
                </a:cubicBezTo>
                <a:cubicBezTo>
                  <a:pt x="9994564" y="3332623"/>
                  <a:pt x="9927872" y="3317665"/>
                  <a:pt x="9947096" y="3329673"/>
                </a:cubicBezTo>
                <a:cubicBezTo>
                  <a:pt x="9910530" y="3330603"/>
                  <a:pt x="9938422" y="3341787"/>
                  <a:pt x="9894468" y="3331125"/>
                </a:cubicBezTo>
                <a:cubicBezTo>
                  <a:pt x="9837697" y="3343266"/>
                  <a:pt x="9748207" y="3338748"/>
                  <a:pt x="9703741" y="3357170"/>
                </a:cubicBezTo>
                <a:cubicBezTo>
                  <a:pt x="9709264" y="3350136"/>
                  <a:pt x="9685337" y="3344679"/>
                  <a:pt x="9668763" y="3348169"/>
                </a:cubicBezTo>
                <a:cubicBezTo>
                  <a:pt x="9688139" y="3320571"/>
                  <a:pt x="9603232" y="3373038"/>
                  <a:pt x="9588644" y="3354205"/>
                </a:cubicBezTo>
                <a:cubicBezTo>
                  <a:pt x="9587925" y="3371689"/>
                  <a:pt x="9513642" y="3401336"/>
                  <a:pt x="9478680" y="3386990"/>
                </a:cubicBezTo>
                <a:cubicBezTo>
                  <a:pt x="9425416" y="3390492"/>
                  <a:pt x="9387699" y="3404944"/>
                  <a:pt x="9331856" y="3399166"/>
                </a:cubicBezTo>
                <a:cubicBezTo>
                  <a:pt x="9330123" y="3401505"/>
                  <a:pt x="9327283" y="3403463"/>
                  <a:pt x="9323679" y="3405145"/>
                </a:cubicBezTo>
                <a:lnTo>
                  <a:pt x="9311620" y="3409223"/>
                </a:lnTo>
                <a:lnTo>
                  <a:pt x="9309289" y="3408926"/>
                </a:lnTo>
                <a:cubicBezTo>
                  <a:pt x="9300131" y="3408873"/>
                  <a:pt x="9295442" y="3409859"/>
                  <a:pt x="9292731" y="3411301"/>
                </a:cubicBezTo>
                <a:lnTo>
                  <a:pt x="9290814" y="3413412"/>
                </a:lnTo>
                <a:lnTo>
                  <a:pt x="9279990" y="3415541"/>
                </a:lnTo>
                <a:lnTo>
                  <a:pt x="9260104" y="3421077"/>
                </a:lnTo>
                <a:lnTo>
                  <a:pt x="9255034" y="3420853"/>
                </a:lnTo>
                <a:lnTo>
                  <a:pt x="9222941" y="3427242"/>
                </a:lnTo>
                <a:lnTo>
                  <a:pt x="9221858" y="3426731"/>
                </a:lnTo>
                <a:cubicBezTo>
                  <a:pt x="9218700" y="3425733"/>
                  <a:pt x="9214983" y="3425271"/>
                  <a:pt x="9210014" y="3425917"/>
                </a:cubicBezTo>
                <a:cubicBezTo>
                  <a:pt x="9208256" y="3416158"/>
                  <a:pt x="9203342" y="3422957"/>
                  <a:pt x="9188839" y="3425728"/>
                </a:cubicBezTo>
                <a:cubicBezTo>
                  <a:pt x="9182870" y="3411188"/>
                  <a:pt x="9147335" y="3424352"/>
                  <a:pt x="9132080" y="3417886"/>
                </a:cubicBezTo>
                <a:cubicBezTo>
                  <a:pt x="9121557" y="3420249"/>
                  <a:pt x="9110321" y="3422482"/>
                  <a:pt x="9098549" y="3424480"/>
                </a:cubicBezTo>
                <a:lnTo>
                  <a:pt x="9003970" y="3425484"/>
                </a:lnTo>
                <a:lnTo>
                  <a:pt x="8904921" y="3413774"/>
                </a:lnTo>
                <a:cubicBezTo>
                  <a:pt x="8868284" y="3413519"/>
                  <a:pt x="8836559" y="3409171"/>
                  <a:pt x="8805551" y="3412237"/>
                </a:cubicBezTo>
                <a:cubicBezTo>
                  <a:pt x="8792955" y="3408854"/>
                  <a:pt x="8781083" y="3407488"/>
                  <a:pt x="8769572" y="3412551"/>
                </a:cubicBezTo>
                <a:cubicBezTo>
                  <a:pt x="8735382" y="3410862"/>
                  <a:pt x="8727105" y="3403632"/>
                  <a:pt x="8705440" y="3409271"/>
                </a:cubicBezTo>
                <a:cubicBezTo>
                  <a:pt x="8686231" y="3397576"/>
                  <a:pt x="8685094" y="3402040"/>
                  <a:pt x="8676067" y="3405389"/>
                </a:cubicBezTo>
                <a:lnTo>
                  <a:pt x="8674779" y="3405628"/>
                </a:lnTo>
                <a:lnTo>
                  <a:pt x="8672154" y="3403956"/>
                </a:lnTo>
                <a:lnTo>
                  <a:pt x="8666720" y="3403182"/>
                </a:lnTo>
                <a:lnTo>
                  <a:pt x="8651886" y="3403680"/>
                </a:lnTo>
                <a:lnTo>
                  <a:pt x="8646307" y="3404298"/>
                </a:lnTo>
                <a:cubicBezTo>
                  <a:pt x="8642465" y="3404565"/>
                  <a:pt x="8639912" y="3404534"/>
                  <a:pt x="8638145" y="3404287"/>
                </a:cubicBezTo>
                <a:lnTo>
                  <a:pt x="8637941" y="3404149"/>
                </a:lnTo>
                <a:lnTo>
                  <a:pt x="8630296" y="3404406"/>
                </a:lnTo>
                <a:cubicBezTo>
                  <a:pt x="8617394" y="3405155"/>
                  <a:pt x="8604838" y="3406180"/>
                  <a:pt x="8592887" y="3407398"/>
                </a:cubicBezTo>
                <a:cubicBezTo>
                  <a:pt x="8582781" y="3399722"/>
                  <a:pt x="8538622" y="3408789"/>
                  <a:pt x="8543455" y="3394319"/>
                </a:cubicBezTo>
                <a:cubicBezTo>
                  <a:pt x="8527334" y="3395534"/>
                  <a:pt x="8517583" y="3401542"/>
                  <a:pt x="8523012" y="3392051"/>
                </a:cubicBezTo>
                <a:cubicBezTo>
                  <a:pt x="8517705" y="3392178"/>
                  <a:pt x="8514435" y="3391372"/>
                  <a:pt x="8512093" y="3390108"/>
                </a:cubicBezTo>
                <a:lnTo>
                  <a:pt x="8511416" y="3389513"/>
                </a:lnTo>
                <a:lnTo>
                  <a:pt x="8475551" y="3392450"/>
                </a:lnTo>
                <a:lnTo>
                  <a:pt x="8470789" y="3391736"/>
                </a:lnTo>
                <a:lnTo>
                  <a:pt x="8447414" y="3395064"/>
                </a:lnTo>
                <a:lnTo>
                  <a:pt x="8435335" y="3396028"/>
                </a:lnTo>
                <a:lnTo>
                  <a:pt x="8431923" y="3397855"/>
                </a:lnTo>
                <a:cubicBezTo>
                  <a:pt x="8428239" y="3398965"/>
                  <a:pt x="8422959" y="3399444"/>
                  <a:pt x="8414099" y="3398491"/>
                </a:cubicBezTo>
                <a:lnTo>
                  <a:pt x="8412049" y="3397978"/>
                </a:lnTo>
                <a:lnTo>
                  <a:pt x="8397349" y="3400683"/>
                </a:lnTo>
                <a:cubicBezTo>
                  <a:pt x="8392615" y="3401933"/>
                  <a:pt x="8388424" y="3403524"/>
                  <a:pt x="8385030" y="3405585"/>
                </a:cubicBezTo>
                <a:cubicBezTo>
                  <a:pt x="8334977" y="3394568"/>
                  <a:pt x="8287750" y="3404648"/>
                  <a:pt x="8233422" y="3402742"/>
                </a:cubicBezTo>
                <a:cubicBezTo>
                  <a:pt x="8209936" y="3385601"/>
                  <a:pt x="8116056" y="3406588"/>
                  <a:pt x="8102569" y="3423208"/>
                </a:cubicBezTo>
                <a:cubicBezTo>
                  <a:pt x="8102264" y="3408645"/>
                  <a:pt x="8034186" y="3428475"/>
                  <a:pt x="8016625" y="3428989"/>
                </a:cubicBezTo>
                <a:cubicBezTo>
                  <a:pt x="8010771" y="3429161"/>
                  <a:pt x="8010530" y="3427186"/>
                  <a:pt x="8020284" y="3421076"/>
                </a:cubicBezTo>
                <a:cubicBezTo>
                  <a:pt x="8001623" y="3422777"/>
                  <a:pt x="7982361" y="3415208"/>
                  <a:pt x="7992871" y="3409037"/>
                </a:cubicBezTo>
                <a:cubicBezTo>
                  <a:pt x="7936181" y="3422244"/>
                  <a:pt x="7852511" y="3409112"/>
                  <a:pt x="7788452" y="3415110"/>
                </a:cubicBezTo>
                <a:cubicBezTo>
                  <a:pt x="7753529" y="3400598"/>
                  <a:pt x="7772461" y="3414025"/>
                  <a:pt x="7736237" y="3411311"/>
                </a:cubicBezTo>
                <a:cubicBezTo>
                  <a:pt x="7746145" y="3424670"/>
                  <a:pt x="7692261" y="3403816"/>
                  <a:pt x="7690279" y="3418893"/>
                </a:cubicBezTo>
                <a:cubicBezTo>
                  <a:pt x="7683750" y="3417921"/>
                  <a:pt x="7677487" y="3416505"/>
                  <a:pt x="7671219" y="3414970"/>
                </a:cubicBezTo>
                <a:lnTo>
                  <a:pt x="7667928" y="3414173"/>
                </a:lnTo>
                <a:lnTo>
                  <a:pt x="7654774" y="3413595"/>
                </a:lnTo>
                <a:lnTo>
                  <a:pt x="7651067" y="3410171"/>
                </a:lnTo>
                <a:lnTo>
                  <a:pt x="7631267" y="3406963"/>
                </a:lnTo>
                <a:cubicBezTo>
                  <a:pt x="7623851" y="3406267"/>
                  <a:pt x="7615871" y="3406106"/>
                  <a:pt x="7607053" y="3406809"/>
                </a:cubicBezTo>
                <a:cubicBezTo>
                  <a:pt x="7585359" y="3412784"/>
                  <a:pt x="7551579" y="3405461"/>
                  <a:pt x="7521027" y="3405904"/>
                </a:cubicBezTo>
                <a:lnTo>
                  <a:pt x="7506997" y="3407754"/>
                </a:lnTo>
                <a:lnTo>
                  <a:pt x="7461204" y="3404669"/>
                </a:lnTo>
                <a:cubicBezTo>
                  <a:pt x="7448169" y="3404071"/>
                  <a:pt x="7434640" y="3403756"/>
                  <a:pt x="7420396" y="3403975"/>
                </a:cubicBezTo>
                <a:lnTo>
                  <a:pt x="7393955" y="3405447"/>
                </a:lnTo>
                <a:lnTo>
                  <a:pt x="7387024" y="3404227"/>
                </a:lnTo>
                <a:cubicBezTo>
                  <a:pt x="7374952" y="3404363"/>
                  <a:pt x="7358975" y="3408656"/>
                  <a:pt x="7360398" y="3403441"/>
                </a:cubicBezTo>
                <a:lnTo>
                  <a:pt x="7346837" y="3405249"/>
                </a:lnTo>
                <a:lnTo>
                  <a:pt x="7333451" y="3401087"/>
                </a:lnTo>
                <a:cubicBezTo>
                  <a:pt x="7331985" y="3400120"/>
                  <a:pt x="7330882" y="3399091"/>
                  <a:pt x="7330179" y="3398037"/>
                </a:cubicBezTo>
                <a:lnTo>
                  <a:pt x="7311232" y="3399406"/>
                </a:lnTo>
                <a:lnTo>
                  <a:pt x="7295699" y="3396426"/>
                </a:lnTo>
                <a:lnTo>
                  <a:pt x="7282158" y="3398374"/>
                </a:lnTo>
                <a:lnTo>
                  <a:pt x="7276538" y="3397935"/>
                </a:lnTo>
                <a:lnTo>
                  <a:pt x="7262569" y="3396460"/>
                </a:lnTo>
                <a:cubicBezTo>
                  <a:pt x="7255407" y="3395426"/>
                  <a:pt x="7247392" y="3394180"/>
                  <a:pt x="7238468" y="3393183"/>
                </a:cubicBezTo>
                <a:lnTo>
                  <a:pt x="7230949" y="3392727"/>
                </a:lnTo>
                <a:lnTo>
                  <a:pt x="7214580" y="3387715"/>
                </a:lnTo>
                <a:cubicBezTo>
                  <a:pt x="7202670" y="3383926"/>
                  <a:pt x="7193296" y="3381373"/>
                  <a:pt x="7182893" y="3383429"/>
                </a:cubicBezTo>
                <a:cubicBezTo>
                  <a:pt x="7165160" y="3378534"/>
                  <a:pt x="7152772" y="3364815"/>
                  <a:pt x="7127104" y="3368475"/>
                </a:cubicBezTo>
                <a:cubicBezTo>
                  <a:pt x="7134894" y="3362260"/>
                  <a:pt x="7098599" y="3367723"/>
                  <a:pt x="7094311" y="3361339"/>
                </a:cubicBezTo>
                <a:cubicBezTo>
                  <a:pt x="7092331" y="3356198"/>
                  <a:pt x="7080860" y="3356657"/>
                  <a:pt x="7072124" y="3354762"/>
                </a:cubicBezTo>
                <a:cubicBezTo>
                  <a:pt x="7065898" y="3349511"/>
                  <a:pt x="7021942" y="3344717"/>
                  <a:pt x="7006638" y="3345473"/>
                </a:cubicBezTo>
                <a:cubicBezTo>
                  <a:pt x="6963504" y="3350697"/>
                  <a:pt x="6928807" y="3329559"/>
                  <a:pt x="6894320" y="3333192"/>
                </a:cubicBezTo>
                <a:cubicBezTo>
                  <a:pt x="6885290" y="3332697"/>
                  <a:pt x="6877803" y="3331507"/>
                  <a:pt x="6871318" y="3329892"/>
                </a:cubicBezTo>
                <a:lnTo>
                  <a:pt x="6855157" y="3324330"/>
                </a:lnTo>
                <a:cubicBezTo>
                  <a:pt x="6854956" y="3323109"/>
                  <a:pt x="6854755" y="3321887"/>
                  <a:pt x="6854555" y="3320665"/>
                </a:cubicBezTo>
                <a:lnTo>
                  <a:pt x="6842483" y="3318413"/>
                </a:lnTo>
                <a:lnTo>
                  <a:pt x="6840027" y="3317245"/>
                </a:lnTo>
                <a:cubicBezTo>
                  <a:pt x="6835354" y="3315001"/>
                  <a:pt x="6830588" y="3312868"/>
                  <a:pt x="6825185" y="3311114"/>
                </a:cubicBezTo>
                <a:cubicBezTo>
                  <a:pt x="6810331" y="3324866"/>
                  <a:pt x="6776772" y="3298463"/>
                  <a:pt x="6774755" y="3312168"/>
                </a:cubicBezTo>
                <a:cubicBezTo>
                  <a:pt x="6742477" y="3304924"/>
                  <a:pt x="6749024" y="3319870"/>
                  <a:pt x="6728129" y="3301832"/>
                </a:cubicBezTo>
                <a:cubicBezTo>
                  <a:pt x="6661764" y="3299056"/>
                  <a:pt x="6593104" y="3275946"/>
                  <a:pt x="6527587" y="3280829"/>
                </a:cubicBezTo>
                <a:cubicBezTo>
                  <a:pt x="6542935" y="3276465"/>
                  <a:pt x="6531033" y="3266920"/>
                  <a:pt x="6511742" y="3266067"/>
                </a:cubicBezTo>
                <a:cubicBezTo>
                  <a:pt x="6570025" y="3248440"/>
                  <a:pt x="6418649" y="3271458"/>
                  <a:pt x="6434953" y="3253360"/>
                </a:cubicBezTo>
                <a:cubicBezTo>
                  <a:pt x="6407781" y="3267048"/>
                  <a:pt x="6300040" y="3274313"/>
                  <a:pt x="6292331" y="3255322"/>
                </a:cubicBezTo>
                <a:cubicBezTo>
                  <a:pt x="6242057" y="3246469"/>
                  <a:pt x="6188266" y="3249680"/>
                  <a:pt x="6149913" y="3232917"/>
                </a:cubicBezTo>
                <a:cubicBezTo>
                  <a:pt x="6144898" y="3234391"/>
                  <a:pt x="6139526" y="3235322"/>
                  <a:pt x="6133930" y="3235867"/>
                </a:cubicBezTo>
                <a:lnTo>
                  <a:pt x="6117554" y="3236464"/>
                </a:lnTo>
                <a:lnTo>
                  <a:pt x="6116039" y="3235720"/>
                </a:lnTo>
                <a:cubicBezTo>
                  <a:pt x="6108393" y="3233681"/>
                  <a:pt x="6102936" y="3233437"/>
                  <a:pt x="6098459" y="3233988"/>
                </a:cubicBezTo>
                <a:lnTo>
                  <a:pt x="6093630" y="3235240"/>
                </a:lnTo>
                <a:lnTo>
                  <a:pt x="6081261" y="3234563"/>
                </a:lnTo>
                <a:lnTo>
                  <a:pt x="6056067" y="3234608"/>
                </a:lnTo>
                <a:lnTo>
                  <a:pt x="6052129" y="3233324"/>
                </a:lnTo>
                <a:lnTo>
                  <a:pt x="6015338" y="3231378"/>
                </a:lnTo>
                <a:cubicBezTo>
                  <a:pt x="6015291" y="3231165"/>
                  <a:pt x="6015245" y="3230951"/>
                  <a:pt x="6015198" y="3230737"/>
                </a:cubicBezTo>
                <a:cubicBezTo>
                  <a:pt x="6014048" y="3229257"/>
                  <a:pt x="6011617" y="3228081"/>
                  <a:pt x="6006436" y="3227508"/>
                </a:cubicBezTo>
                <a:cubicBezTo>
                  <a:pt x="6019781" y="3219395"/>
                  <a:pt x="6005305" y="3223709"/>
                  <a:pt x="5988851" y="3222735"/>
                </a:cubicBezTo>
                <a:cubicBezTo>
                  <a:pt x="6005907" y="3209918"/>
                  <a:pt x="5955918" y="3212588"/>
                  <a:pt x="5952863" y="3204137"/>
                </a:cubicBezTo>
                <a:cubicBezTo>
                  <a:pt x="5940395" y="3203711"/>
                  <a:pt x="5927517" y="3203028"/>
                  <a:pt x="5914548" y="3202041"/>
                </a:cubicBezTo>
                <a:lnTo>
                  <a:pt x="5907020" y="3201283"/>
                </a:lnTo>
                <a:cubicBezTo>
                  <a:pt x="5906995" y="3201231"/>
                  <a:pt x="5906969" y="3201180"/>
                  <a:pt x="5906944" y="3201129"/>
                </a:cubicBezTo>
                <a:cubicBezTo>
                  <a:pt x="5905471" y="3200668"/>
                  <a:pt x="5903056" y="3200308"/>
                  <a:pt x="5899155" y="3200053"/>
                </a:cubicBezTo>
                <a:lnTo>
                  <a:pt x="5893294" y="3199901"/>
                </a:lnTo>
                <a:lnTo>
                  <a:pt x="5878691" y="3198431"/>
                </a:lnTo>
                <a:lnTo>
                  <a:pt x="5874165" y="3197003"/>
                </a:lnTo>
                <a:lnTo>
                  <a:pt x="5873092" y="3195108"/>
                </a:lnTo>
                <a:lnTo>
                  <a:pt x="5871658" y="3195162"/>
                </a:lnTo>
                <a:cubicBezTo>
                  <a:pt x="5860152" y="3197097"/>
                  <a:pt x="5855231" y="3201097"/>
                  <a:pt x="5846928" y="3187725"/>
                </a:cubicBezTo>
                <a:cubicBezTo>
                  <a:pt x="5821379" y="3190142"/>
                  <a:pt x="5819686" y="3182343"/>
                  <a:pt x="5788468" y="3176316"/>
                </a:cubicBezTo>
                <a:cubicBezTo>
                  <a:pt x="5773119" y="3179521"/>
                  <a:pt x="5762947" y="3176704"/>
                  <a:pt x="5753823" y="3171919"/>
                </a:cubicBezTo>
                <a:cubicBezTo>
                  <a:pt x="5721557" y="3170726"/>
                  <a:pt x="5694983" y="3162549"/>
                  <a:pt x="5660194" y="3157536"/>
                </a:cubicBezTo>
                <a:cubicBezTo>
                  <a:pt x="5619608" y="3159495"/>
                  <a:pt x="5604384" y="3146636"/>
                  <a:pt x="5567188" y="3141325"/>
                </a:cubicBezTo>
                <a:cubicBezTo>
                  <a:pt x="5530345" y="3148235"/>
                  <a:pt x="5543868" y="3129416"/>
                  <a:pt x="5526178" y="3123274"/>
                </a:cubicBezTo>
                <a:lnTo>
                  <a:pt x="5520866" y="3122322"/>
                </a:lnTo>
                <a:lnTo>
                  <a:pt x="5506009" y="3122332"/>
                </a:lnTo>
                <a:lnTo>
                  <a:pt x="5500363" y="3122766"/>
                </a:lnTo>
                <a:cubicBezTo>
                  <a:pt x="5496497" y="3122905"/>
                  <a:pt x="5493953" y="3122792"/>
                  <a:pt x="5492228" y="3122486"/>
                </a:cubicBezTo>
                <a:lnTo>
                  <a:pt x="5492044" y="3122342"/>
                </a:lnTo>
                <a:lnTo>
                  <a:pt x="5484386" y="3122347"/>
                </a:lnTo>
                <a:cubicBezTo>
                  <a:pt x="5471420" y="3122670"/>
                  <a:pt x="5458764" y="3123280"/>
                  <a:pt x="5446679" y="3124105"/>
                </a:cubicBezTo>
                <a:cubicBezTo>
                  <a:pt x="5437659" y="3116107"/>
                  <a:pt x="5392392" y="3123709"/>
                  <a:pt x="5399188" y="3109418"/>
                </a:cubicBezTo>
                <a:cubicBezTo>
                  <a:pt x="5382948" y="3110102"/>
                  <a:pt x="5372407" y="3115781"/>
                  <a:pt x="5379117" y="3106482"/>
                </a:cubicBezTo>
                <a:cubicBezTo>
                  <a:pt x="5373809" y="3106435"/>
                  <a:pt x="5370660" y="3105521"/>
                  <a:pt x="5368499" y="3104181"/>
                </a:cubicBezTo>
                <a:lnTo>
                  <a:pt x="5367902" y="3103566"/>
                </a:lnTo>
                <a:lnTo>
                  <a:pt x="5331747" y="3105319"/>
                </a:lnTo>
                <a:lnTo>
                  <a:pt x="5327095" y="3104450"/>
                </a:lnTo>
                <a:lnTo>
                  <a:pt x="5303337" y="3107003"/>
                </a:lnTo>
                <a:lnTo>
                  <a:pt x="5291164" y="3107570"/>
                </a:lnTo>
                <a:lnTo>
                  <a:pt x="5287515" y="3109282"/>
                </a:lnTo>
                <a:cubicBezTo>
                  <a:pt x="5283689" y="3110269"/>
                  <a:pt x="5278356" y="3110573"/>
                  <a:pt x="5269654" y="3109330"/>
                </a:cubicBezTo>
                <a:lnTo>
                  <a:pt x="5267681" y="3108752"/>
                </a:lnTo>
                <a:lnTo>
                  <a:pt x="5252655" y="3110969"/>
                </a:lnTo>
                <a:cubicBezTo>
                  <a:pt x="5247766" y="3112062"/>
                  <a:pt x="5243369" y="3113511"/>
                  <a:pt x="5239703" y="3115460"/>
                </a:cubicBezTo>
                <a:cubicBezTo>
                  <a:pt x="5191311" y="3102811"/>
                  <a:pt x="5142849" y="3111324"/>
                  <a:pt x="5088947" y="3107634"/>
                </a:cubicBezTo>
                <a:cubicBezTo>
                  <a:pt x="5027989" y="3108214"/>
                  <a:pt x="4985627" y="3110432"/>
                  <a:pt x="4945514" y="3110162"/>
                </a:cubicBezTo>
                <a:cubicBezTo>
                  <a:pt x="4926678" y="3111245"/>
                  <a:pt x="4789238" y="3111826"/>
                  <a:pt x="4800559" y="3106010"/>
                </a:cubicBezTo>
                <a:cubicBezTo>
                  <a:pt x="4742239" y="3117333"/>
                  <a:pt x="4708324" y="3101468"/>
                  <a:pt x="4643642" y="3105351"/>
                </a:cubicBezTo>
                <a:cubicBezTo>
                  <a:pt x="4610808" y="3089712"/>
                  <a:pt x="4627845" y="3103743"/>
                  <a:pt x="4592107" y="3099840"/>
                </a:cubicBezTo>
                <a:cubicBezTo>
                  <a:pt x="4600157" y="3113506"/>
                  <a:pt x="4549287" y="3090911"/>
                  <a:pt x="4545249" y="3105899"/>
                </a:cubicBezTo>
                <a:cubicBezTo>
                  <a:pt x="4538872" y="3104716"/>
                  <a:pt x="4532825" y="3103094"/>
                  <a:pt x="4526782" y="3101355"/>
                </a:cubicBezTo>
                <a:lnTo>
                  <a:pt x="4523614" y="3100453"/>
                </a:lnTo>
                <a:lnTo>
                  <a:pt x="4510579" y="3099442"/>
                </a:lnTo>
                <a:lnTo>
                  <a:pt x="4507348" y="3095901"/>
                </a:lnTo>
                <a:lnTo>
                  <a:pt x="4348949" y="3090220"/>
                </a:lnTo>
                <a:cubicBezTo>
                  <a:pt x="4335046" y="3092487"/>
                  <a:pt x="4290056" y="3092155"/>
                  <a:pt x="4280362" y="3087618"/>
                </a:cubicBezTo>
                <a:cubicBezTo>
                  <a:pt x="4270739" y="3086627"/>
                  <a:pt x="4260237" y="3088220"/>
                  <a:pt x="4254634" y="3083366"/>
                </a:cubicBezTo>
                <a:cubicBezTo>
                  <a:pt x="4233731" y="3080512"/>
                  <a:pt x="4185859" y="3073948"/>
                  <a:pt x="4154942" y="3070490"/>
                </a:cubicBezTo>
                <a:cubicBezTo>
                  <a:pt x="4138280" y="3076599"/>
                  <a:pt x="4112117" y="3064194"/>
                  <a:pt x="4069131" y="3062612"/>
                </a:cubicBezTo>
                <a:cubicBezTo>
                  <a:pt x="4050897" y="3069679"/>
                  <a:pt x="4040160" y="3061449"/>
                  <a:pt x="4005249" y="3070810"/>
                </a:cubicBezTo>
                <a:cubicBezTo>
                  <a:pt x="4003818" y="3069842"/>
                  <a:pt x="4002032" y="3068943"/>
                  <a:pt x="3999945" y="3068139"/>
                </a:cubicBezTo>
                <a:cubicBezTo>
                  <a:pt x="3987818" y="3063468"/>
                  <a:pt x="3968381" y="3062958"/>
                  <a:pt x="3956529" y="3067000"/>
                </a:cubicBezTo>
                <a:cubicBezTo>
                  <a:pt x="3900898" y="3079382"/>
                  <a:pt x="3850463" y="3077929"/>
                  <a:pt x="3803031" y="3079823"/>
                </a:cubicBezTo>
                <a:cubicBezTo>
                  <a:pt x="3749421" y="3080464"/>
                  <a:pt x="3785521" y="3065630"/>
                  <a:pt x="3718229" y="3077134"/>
                </a:cubicBezTo>
                <a:cubicBezTo>
                  <a:pt x="3711244" y="3071611"/>
                  <a:pt x="3702770" y="3071184"/>
                  <a:pt x="3688357" y="3073468"/>
                </a:cubicBezTo>
                <a:cubicBezTo>
                  <a:pt x="3662326" y="3073378"/>
                  <a:pt x="3664937" y="3059899"/>
                  <a:pt x="3638298" y="3067494"/>
                </a:cubicBezTo>
                <a:cubicBezTo>
                  <a:pt x="3643333" y="3060328"/>
                  <a:pt x="3589079" y="3063658"/>
                  <a:pt x="3601443" y="3056355"/>
                </a:cubicBezTo>
                <a:cubicBezTo>
                  <a:pt x="3584797" y="3049384"/>
                  <a:pt x="3575923" y="3060108"/>
                  <a:pt x="3559361" y="3054005"/>
                </a:cubicBezTo>
                <a:cubicBezTo>
                  <a:pt x="3540444" y="3052269"/>
                  <a:pt x="3569896" y="3061996"/>
                  <a:pt x="3548859" y="3062094"/>
                </a:cubicBezTo>
                <a:cubicBezTo>
                  <a:pt x="3523419" y="3060901"/>
                  <a:pt x="3522848" y="3074222"/>
                  <a:pt x="3504082" y="3056779"/>
                </a:cubicBezTo>
                <a:lnTo>
                  <a:pt x="3436234" y="3047769"/>
                </a:lnTo>
                <a:cubicBezTo>
                  <a:pt x="3420764" y="3051629"/>
                  <a:pt x="3408644" y="3049227"/>
                  <a:pt x="3396914" y="3044803"/>
                </a:cubicBezTo>
                <a:cubicBezTo>
                  <a:pt x="3361398" y="3044955"/>
                  <a:pt x="3329425" y="3037856"/>
                  <a:pt x="3289720" y="3034278"/>
                </a:cubicBezTo>
                <a:cubicBezTo>
                  <a:pt x="3246348" y="3037943"/>
                  <a:pt x="3224942" y="3025667"/>
                  <a:pt x="3182509" y="3021890"/>
                </a:cubicBezTo>
                <a:cubicBezTo>
                  <a:pt x="3139731" y="3031583"/>
                  <a:pt x="3155749" y="3004773"/>
                  <a:pt x="3119879" y="3004134"/>
                </a:cubicBezTo>
                <a:cubicBezTo>
                  <a:pt x="3060941" y="3012153"/>
                  <a:pt x="3121880" y="2995117"/>
                  <a:pt x="3031656" y="2995077"/>
                </a:cubicBezTo>
                <a:cubicBezTo>
                  <a:pt x="3026453" y="2996603"/>
                  <a:pt x="3015685" y="2994367"/>
                  <a:pt x="3017018" y="2992034"/>
                </a:cubicBezTo>
                <a:cubicBezTo>
                  <a:pt x="2997245" y="2992118"/>
                  <a:pt x="2941342" y="2976346"/>
                  <a:pt x="2913012" y="2978042"/>
                </a:cubicBezTo>
                <a:cubicBezTo>
                  <a:pt x="2858481" y="2969139"/>
                  <a:pt x="2831094" y="2979433"/>
                  <a:pt x="2791382" y="2975899"/>
                </a:cubicBezTo>
                <a:cubicBezTo>
                  <a:pt x="2745836" y="2966063"/>
                  <a:pt x="2719288" y="2957529"/>
                  <a:pt x="2639738" y="2936567"/>
                </a:cubicBezTo>
                <a:lnTo>
                  <a:pt x="2369741" y="2876435"/>
                </a:lnTo>
                <a:cubicBezTo>
                  <a:pt x="2269614" y="2832081"/>
                  <a:pt x="2140023" y="2856176"/>
                  <a:pt x="2078755" y="2852909"/>
                </a:cubicBezTo>
                <a:cubicBezTo>
                  <a:pt x="2053362" y="2866100"/>
                  <a:pt x="2032778" y="2851474"/>
                  <a:pt x="2002128" y="2856835"/>
                </a:cubicBezTo>
                <a:cubicBezTo>
                  <a:pt x="1933939" y="2859736"/>
                  <a:pt x="1866254" y="2874726"/>
                  <a:pt x="1777746" y="2864566"/>
                </a:cubicBezTo>
                <a:cubicBezTo>
                  <a:pt x="1737851" y="2905864"/>
                  <a:pt x="1634115" y="2880970"/>
                  <a:pt x="1549425" y="2904556"/>
                </a:cubicBezTo>
                <a:cubicBezTo>
                  <a:pt x="1500265" y="2909373"/>
                  <a:pt x="1423030" y="2888862"/>
                  <a:pt x="1405992" y="2911144"/>
                </a:cubicBezTo>
                <a:cubicBezTo>
                  <a:pt x="1383494" y="2897507"/>
                  <a:pt x="1362438" y="2919536"/>
                  <a:pt x="1337848" y="2921491"/>
                </a:cubicBezTo>
                <a:cubicBezTo>
                  <a:pt x="1318218" y="2912820"/>
                  <a:pt x="1308478" y="2920319"/>
                  <a:pt x="1290645" y="2921985"/>
                </a:cubicBezTo>
                <a:cubicBezTo>
                  <a:pt x="1282569" y="2916637"/>
                  <a:pt x="1267476" y="2916916"/>
                  <a:pt x="1262341" y="2923190"/>
                </a:cubicBezTo>
                <a:cubicBezTo>
                  <a:pt x="1269627" y="2937654"/>
                  <a:pt x="1217209" y="2930439"/>
                  <a:pt x="1213314" y="2940415"/>
                </a:cubicBezTo>
                <a:cubicBezTo>
                  <a:pt x="1182890" y="2942495"/>
                  <a:pt x="1050782" y="2929830"/>
                  <a:pt x="1028405" y="2945799"/>
                </a:cubicBezTo>
                <a:cubicBezTo>
                  <a:pt x="966896" y="2953381"/>
                  <a:pt x="877997" y="2927977"/>
                  <a:pt x="851857" y="2928423"/>
                </a:cubicBezTo>
                <a:cubicBezTo>
                  <a:pt x="825919" y="2899251"/>
                  <a:pt x="699677" y="2976135"/>
                  <a:pt x="588681" y="2977769"/>
                </a:cubicBezTo>
                <a:cubicBezTo>
                  <a:pt x="573724" y="2974953"/>
                  <a:pt x="565729" y="2974991"/>
                  <a:pt x="561717" y="2981641"/>
                </a:cubicBezTo>
                <a:cubicBezTo>
                  <a:pt x="532860" y="2985482"/>
                  <a:pt x="475932" y="2991762"/>
                  <a:pt x="415541" y="3000819"/>
                </a:cubicBezTo>
                <a:cubicBezTo>
                  <a:pt x="370154" y="3008289"/>
                  <a:pt x="146634" y="3001788"/>
                  <a:pt x="86183" y="3009699"/>
                </a:cubicBezTo>
                <a:lnTo>
                  <a:pt x="0" y="3044978"/>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6096000" y="3703975"/>
            <a:ext cx="5257800" cy="2398713"/>
          </a:xfrm>
        </p:spPr>
        <p:txBody>
          <a:bodyPr anchor="ctr">
            <a:normAutofit/>
          </a:bodyPr>
          <a:lstStyle/>
          <a:p>
            <a:pPr marL="0" indent="0">
              <a:buNone/>
            </a:pPr>
            <a:r>
              <a:rPr lang="en-IN" sz="1900"/>
              <a:t>Existing fashion trend prediction methods rely on single-source data such as images or textual reviews, leading to limited accuracy. These approaches fail to capture the combined influence of visual features, customer sentiment, and temporal patterns. Therefore, there is a need for a unified multi-modal system to improve prediction accuracy and reliability.</a:t>
            </a:r>
          </a:p>
        </p:txBody>
      </p:sp>
    </p:spTree>
    <p:extLst>
      <p:ext uri="{BB962C8B-B14F-4D97-AF65-F5344CB8AC3E}">
        <p14:creationId xmlns:p14="http://schemas.microsoft.com/office/powerpoint/2010/main" val="2374707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9294AD4E-F216-7029-B047-E5826A39DCA2}"/>
              </a:ext>
            </a:extLst>
          </p:cNvPr>
          <p:cNvSpPr>
            <a:spLocks noGrp="1" noChangeArrowheads="1"/>
          </p:cNvSpPr>
          <p:nvPr>
            <p:ph idx="1"/>
          </p:nvPr>
        </p:nvSpPr>
        <p:spPr bwMode="auto">
          <a:xfrm>
            <a:off x="838200" y="1483312"/>
            <a:ext cx="955167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develop a multi-modal system for fashion trend prediction using image, text, and time-series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implement CNN, sentiment analysis, and LSTM models for extracting visual, textual, and temporal features.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combine the outputs of multiple models using an ensemble approach for improved accuracy.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To evaluate and compare model performance using metrics such as accuracy, precision, recall, and F1-score.</a:t>
            </a:r>
          </a:p>
        </p:txBody>
      </p:sp>
    </p:spTree>
    <p:extLst>
      <p:ext uri="{BB962C8B-B14F-4D97-AF65-F5344CB8AC3E}">
        <p14:creationId xmlns:p14="http://schemas.microsoft.com/office/powerpoint/2010/main" val="354709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775653" y="633560"/>
            <a:ext cx="4949949" cy="486264"/>
          </a:xfrm>
        </p:spPr>
        <p:txBody>
          <a:bodyPr vert="horz" lIns="91440" tIns="45720" rIns="91440" bIns="45720" rtlCol="0" anchor="b">
            <a:normAutofit fontScale="90000"/>
          </a:bodyPr>
          <a:lstStyle/>
          <a:p>
            <a:r>
              <a:rPr lang="en-US" sz="3200" b="1" kern="1200" dirty="0">
                <a:solidFill>
                  <a:schemeClr val="tx1"/>
                </a:solidFill>
                <a:latin typeface="+mj-lt"/>
                <a:ea typeface="+mj-ea"/>
                <a:cs typeface="+mj-cs"/>
              </a:rPr>
              <a:t>Proposed Methodology </a:t>
            </a:r>
          </a:p>
        </p:txBody>
      </p:sp>
      <p:sp>
        <p:nvSpPr>
          <p:cNvPr id="5" name="TextBox 4">
            <a:extLst>
              <a:ext uri="{FF2B5EF4-FFF2-40B4-BE49-F238E27FC236}">
                <a16:creationId xmlns:a16="http://schemas.microsoft.com/office/drawing/2014/main" id="{30196A63-992A-3B76-59B4-E8A06B7380B5}"/>
              </a:ext>
            </a:extLst>
          </p:cNvPr>
          <p:cNvSpPr txBox="1"/>
          <p:nvPr/>
        </p:nvSpPr>
        <p:spPr>
          <a:xfrm>
            <a:off x="775653" y="1548798"/>
            <a:ext cx="3455821" cy="344783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dirty="0"/>
              <a:t>The proposed system follows a </a:t>
            </a:r>
            <a:r>
              <a:rPr lang="en-US" sz="1700" b="1" dirty="0"/>
              <a:t>multi-modal approach</a:t>
            </a:r>
            <a:r>
              <a:rPr lang="en-US" sz="1700" dirty="0"/>
              <a:t> for fashion trend prediction. </a:t>
            </a:r>
          </a:p>
          <a:p>
            <a:pPr indent="-228600">
              <a:lnSpc>
                <a:spcPct val="90000"/>
              </a:lnSpc>
              <a:spcAft>
                <a:spcPts val="600"/>
              </a:spcAft>
              <a:buFont typeface="Arial" panose="020B0604020202020204" pitchFamily="34" charset="0"/>
              <a:buChar char="•"/>
            </a:pPr>
            <a:r>
              <a:rPr lang="en-US" sz="1700" dirty="0"/>
              <a:t>It integrates </a:t>
            </a:r>
            <a:r>
              <a:rPr lang="en-US" sz="1700" b="1" dirty="0"/>
              <a:t>three types of data</a:t>
            </a:r>
            <a:r>
              <a:rPr lang="en-US" sz="1700" dirty="0"/>
              <a:t>: </a:t>
            </a:r>
          </a:p>
          <a:p>
            <a:pPr lvl="1" indent="-228600">
              <a:lnSpc>
                <a:spcPct val="90000"/>
              </a:lnSpc>
              <a:spcAft>
                <a:spcPts val="600"/>
              </a:spcAft>
              <a:buFont typeface="Arial" panose="020B0604020202020204" pitchFamily="34" charset="0"/>
              <a:buChar char="•"/>
            </a:pPr>
            <a:r>
              <a:rPr lang="en-US" sz="1700" dirty="0"/>
              <a:t>Image data </a:t>
            </a:r>
          </a:p>
          <a:p>
            <a:pPr lvl="1" indent="-228600">
              <a:lnSpc>
                <a:spcPct val="90000"/>
              </a:lnSpc>
              <a:spcAft>
                <a:spcPts val="600"/>
              </a:spcAft>
              <a:buFont typeface="Arial" panose="020B0604020202020204" pitchFamily="34" charset="0"/>
              <a:buChar char="•"/>
            </a:pPr>
            <a:r>
              <a:rPr lang="en-US" sz="1700" dirty="0"/>
              <a:t>Text data </a:t>
            </a:r>
          </a:p>
          <a:p>
            <a:pPr lvl="1" indent="-228600">
              <a:lnSpc>
                <a:spcPct val="90000"/>
              </a:lnSpc>
              <a:spcAft>
                <a:spcPts val="600"/>
              </a:spcAft>
              <a:buFont typeface="Arial" panose="020B0604020202020204" pitchFamily="34" charset="0"/>
              <a:buChar char="•"/>
            </a:pPr>
            <a:r>
              <a:rPr lang="en-US" sz="1700" dirty="0"/>
              <a:t>Time-series data </a:t>
            </a:r>
          </a:p>
          <a:p>
            <a:pPr indent="-228600">
              <a:lnSpc>
                <a:spcPct val="90000"/>
              </a:lnSpc>
              <a:spcAft>
                <a:spcPts val="600"/>
              </a:spcAft>
              <a:buFont typeface="Arial" panose="020B0604020202020204" pitchFamily="34" charset="0"/>
              <a:buChar char="•"/>
            </a:pPr>
            <a:r>
              <a:rPr lang="en-US" sz="1700" dirty="0"/>
              <a:t>Each data type is processed using a specialized model. </a:t>
            </a:r>
          </a:p>
          <a:p>
            <a:pPr indent="-228600">
              <a:lnSpc>
                <a:spcPct val="90000"/>
              </a:lnSpc>
              <a:spcAft>
                <a:spcPts val="600"/>
              </a:spcAft>
              <a:buFont typeface="Arial" panose="020B0604020202020204" pitchFamily="34" charset="0"/>
              <a:buChar char="•"/>
            </a:pPr>
            <a:r>
              <a:rPr lang="en-US" sz="1700" dirty="0"/>
              <a:t>The outputs are combined using an </a:t>
            </a:r>
            <a:r>
              <a:rPr lang="en-US" sz="1700" b="1" dirty="0"/>
              <a:t>ensemble technique</a:t>
            </a:r>
            <a:r>
              <a:rPr lang="en-US" sz="1700" dirty="0"/>
              <a:t> to generate the final trend prediction. </a:t>
            </a:r>
          </a:p>
          <a:p>
            <a:pPr indent="-228600">
              <a:lnSpc>
                <a:spcPct val="90000"/>
              </a:lnSpc>
              <a:spcAft>
                <a:spcPts val="600"/>
              </a:spcAft>
              <a:buFont typeface="Arial" panose="020B0604020202020204" pitchFamily="34" charset="0"/>
              <a:buChar char="•"/>
            </a:pPr>
            <a:endParaRPr lang="en-US" sz="1700" dirty="0"/>
          </a:p>
        </p:txBody>
      </p:sp>
      <p:pic>
        <p:nvPicPr>
          <p:cNvPr id="9" name="Content Placeholder 3">
            <a:extLst>
              <a:ext uri="{FF2B5EF4-FFF2-40B4-BE49-F238E27FC236}">
                <a16:creationId xmlns:a16="http://schemas.microsoft.com/office/drawing/2014/main" id="{AEFB76E0-0AEE-8120-7063-E69D752DF4A8}"/>
              </a:ext>
            </a:extLst>
          </p:cNvPr>
          <p:cNvPicPr>
            <a:picLocks noChangeAspect="1"/>
          </p:cNvPicPr>
          <p:nvPr/>
        </p:nvPicPr>
        <p:blipFill>
          <a:blip r:embed="rId2"/>
          <a:stretch>
            <a:fillRect/>
          </a:stretch>
        </p:blipFill>
        <p:spPr>
          <a:xfrm>
            <a:off x="4987672" y="1548798"/>
            <a:ext cx="6389346" cy="3769713"/>
          </a:xfrm>
          <a:prstGeom prst="rect">
            <a:avLst/>
          </a:prstGeom>
        </p:spPr>
      </p:pic>
      <p:grpSp>
        <p:nvGrpSpPr>
          <p:cNvPr id="14" name="Group 13">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5" name="Rectangle 14">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ontent Placeholder 6">
            <a:extLst>
              <a:ext uri="{FF2B5EF4-FFF2-40B4-BE49-F238E27FC236}">
                <a16:creationId xmlns:a16="http://schemas.microsoft.com/office/drawing/2014/main" id="{A8C4E14D-C477-D608-9FF5-5E76ADE6542E}"/>
              </a:ext>
            </a:extLst>
          </p:cNvPr>
          <p:cNvSpPr>
            <a:spLocks noGrp="1"/>
          </p:cNvSpPr>
          <p:nvPr>
            <p:ph idx="1"/>
          </p:nvPr>
        </p:nvSpPr>
        <p:spPr>
          <a:xfrm>
            <a:off x="6370320" y="7392035"/>
            <a:ext cx="5539740" cy="4351338"/>
          </a:xfrm>
        </p:spPr>
        <p:txBody>
          <a:bodyPr/>
          <a:lstStyle/>
          <a:p>
            <a:pPr marL="0" indent="0">
              <a:buNone/>
            </a:pPr>
            <a:endParaRPr lang="en-US" dirty="0"/>
          </a:p>
        </p:txBody>
      </p:sp>
    </p:spTree>
    <p:extLst>
      <p:ext uri="{BB962C8B-B14F-4D97-AF65-F5344CB8AC3E}">
        <p14:creationId xmlns:p14="http://schemas.microsoft.com/office/powerpoint/2010/main" val="1077724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9E4389-8BFC-B150-00D5-7377D5010A68}"/>
              </a:ext>
            </a:extLst>
          </p:cNvPr>
          <p:cNvSpPr txBox="1"/>
          <p:nvPr/>
        </p:nvSpPr>
        <p:spPr>
          <a:xfrm>
            <a:off x="882869" y="588579"/>
            <a:ext cx="6530121" cy="646331"/>
          </a:xfrm>
          <a:prstGeom prst="rect">
            <a:avLst/>
          </a:prstGeom>
          <a:noFill/>
        </p:spPr>
        <p:txBody>
          <a:bodyPr wrap="none" rtlCol="0">
            <a:spAutoFit/>
          </a:bodyPr>
          <a:lstStyle/>
          <a:p>
            <a:r>
              <a:rPr lang="en-IN" sz="3600" b="1" dirty="0"/>
              <a:t>DATA PROCESSING &amp; MODELS</a:t>
            </a:r>
            <a:endParaRPr lang="en-US" sz="3600" b="1" dirty="0"/>
          </a:p>
        </p:txBody>
      </p:sp>
      <p:sp>
        <p:nvSpPr>
          <p:cNvPr id="3" name="TextBox 2">
            <a:extLst>
              <a:ext uri="{FF2B5EF4-FFF2-40B4-BE49-F238E27FC236}">
                <a16:creationId xmlns:a16="http://schemas.microsoft.com/office/drawing/2014/main" id="{4C79E6AC-EA0A-0F0E-39CF-B78425D58CC4}"/>
              </a:ext>
            </a:extLst>
          </p:cNvPr>
          <p:cNvSpPr txBox="1"/>
          <p:nvPr/>
        </p:nvSpPr>
        <p:spPr>
          <a:xfrm>
            <a:off x="1072056" y="1372944"/>
            <a:ext cx="9815684" cy="5078313"/>
          </a:xfrm>
          <a:prstGeom prst="rect">
            <a:avLst/>
          </a:prstGeom>
          <a:noFill/>
        </p:spPr>
        <p:txBody>
          <a:bodyPr wrap="square" rtlCol="0">
            <a:spAutoFit/>
          </a:bodyPr>
          <a:lstStyle/>
          <a:p>
            <a:r>
              <a:rPr lang="en-IN" b="1" dirty="0"/>
              <a:t>Image Data → CNN</a:t>
            </a:r>
            <a:r>
              <a:rPr lang="en-IN" dirty="0"/>
              <a:t> </a:t>
            </a:r>
          </a:p>
          <a:p>
            <a:pPr lvl="1"/>
            <a:r>
              <a:rPr lang="en-IN" dirty="0"/>
              <a:t>Extracts visual features (style, texture, </a:t>
            </a:r>
            <a:r>
              <a:rPr lang="en-IN" dirty="0" err="1"/>
              <a:t>color</a:t>
            </a:r>
            <a:r>
              <a:rPr lang="en-IN" dirty="0"/>
              <a:t>) </a:t>
            </a:r>
          </a:p>
          <a:p>
            <a:pPr marL="742950" lvl="1" indent="-285750">
              <a:buFont typeface="Arial" panose="020B0604020202020204" pitchFamily="34" charset="0"/>
              <a:buChar char="•"/>
            </a:pPr>
            <a:r>
              <a:rPr lang="en-IN" dirty="0"/>
              <a:t>First, the input image is passed through convolution layers where filters extract patterns like edges and textures. Then activation and pooling refine these features. Finally, the features are flattened and used for prediction.</a:t>
            </a:r>
          </a:p>
          <a:p>
            <a:pPr lvl="1"/>
            <a:endParaRPr lang="en-IN" dirty="0"/>
          </a:p>
          <a:p>
            <a:r>
              <a:rPr lang="en-IN" b="1" dirty="0"/>
              <a:t>Text Data → Sentiment Analysis</a:t>
            </a:r>
            <a:r>
              <a:rPr lang="en-IN" dirty="0"/>
              <a:t> </a:t>
            </a:r>
          </a:p>
          <a:p>
            <a:pPr lvl="1"/>
            <a:r>
              <a:rPr lang="en-IN" dirty="0"/>
              <a:t>Uses TF-IDF + Logistic Regression </a:t>
            </a:r>
          </a:p>
          <a:p>
            <a:pPr lvl="1"/>
            <a:r>
              <a:rPr lang="en-IN" dirty="0"/>
              <a:t>Captures customer opinions </a:t>
            </a:r>
          </a:p>
          <a:p>
            <a:pPr marL="742950" lvl="1" indent="-285750">
              <a:buFont typeface="Arial" panose="020B0604020202020204" pitchFamily="34" charset="0"/>
              <a:buChar char="•"/>
            </a:pPr>
            <a:r>
              <a:rPr lang="en-IN" dirty="0"/>
              <a:t>First, the text is cleaned and pre-processed. Then TF-IDF converts it into numerical form. Finally, Logistic Regression classifies the sentiment as positive or negative.</a:t>
            </a:r>
          </a:p>
          <a:p>
            <a:pPr lvl="1"/>
            <a:endParaRPr lang="en-IN" dirty="0"/>
          </a:p>
          <a:p>
            <a:r>
              <a:rPr lang="en-IN" b="1" dirty="0"/>
              <a:t>Time-Series Data → LSTM</a:t>
            </a:r>
            <a:r>
              <a:rPr lang="en-IN" dirty="0"/>
              <a:t> </a:t>
            </a:r>
          </a:p>
          <a:p>
            <a:pPr lvl="1"/>
            <a:r>
              <a:rPr lang="en-IN" dirty="0"/>
              <a:t>Learns temporal patterns </a:t>
            </a:r>
          </a:p>
          <a:p>
            <a:pPr lvl="1"/>
            <a:r>
              <a:rPr lang="en-IN" dirty="0"/>
              <a:t>Predicts future trends </a:t>
            </a:r>
          </a:p>
          <a:p>
            <a:pPr marL="742950" lvl="1" indent="-285750">
              <a:buFont typeface="Arial" panose="020B0604020202020204" pitchFamily="34" charset="0"/>
              <a:buChar char="•"/>
            </a:pPr>
            <a:r>
              <a:rPr lang="en-IN" dirty="0"/>
              <a:t>First, time-series data is pre-processed and converted into sequences. Then LSTM learns temporal patterns from past data and predicts future trends.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60592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3E60C6D-4E85-4E14-BCDF-BF15C241F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2C88A74-032D-C7E9-CDF0-F7E8DD8089E5}"/>
              </a:ext>
            </a:extLst>
          </p:cNvPr>
          <p:cNvSpPr txBox="1"/>
          <p:nvPr/>
        </p:nvSpPr>
        <p:spPr>
          <a:xfrm>
            <a:off x="6151294" y="486184"/>
            <a:ext cx="5397237"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a:latin typeface="+mj-lt"/>
                <a:ea typeface="+mj-ea"/>
                <a:cs typeface="+mj-cs"/>
              </a:rPr>
              <a:t>ENSEMBLE APPROACH</a:t>
            </a:r>
          </a:p>
        </p:txBody>
      </p:sp>
      <p:pic>
        <p:nvPicPr>
          <p:cNvPr id="1026" name="Picture 2">
            <a:extLst>
              <a:ext uri="{FF2B5EF4-FFF2-40B4-BE49-F238E27FC236}">
                <a16:creationId xmlns:a16="http://schemas.microsoft.com/office/drawing/2014/main" id="{8C2F8FFE-3825-BECA-04BF-35E690F09D7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8353" y="598677"/>
            <a:ext cx="3561294" cy="2733294"/>
          </a:xfrm>
          <a:custGeom>
            <a:avLst/>
            <a:gdLst/>
            <a:ahLst/>
            <a:cxnLst/>
            <a:rect l="l" t="t" r="r" b="b"/>
            <a:pathLst>
              <a:path w="4555700" h="2733294">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a:noFill/>
          <a:extLst>
            <a:ext uri="{909E8E84-426E-40DD-AFC4-6F175D3DCCD1}">
              <a14:hiddenFill xmlns:a14="http://schemas.microsoft.com/office/drawing/2010/main">
                <a:solidFill>
                  <a:srgbClr val="FFFFFF"/>
                </a:solidFill>
              </a14:hiddenFill>
            </a:ext>
          </a:extLst>
        </p:spPr>
      </p:pic>
      <p:sp>
        <p:nvSpPr>
          <p:cNvPr id="1033" name="Freeform: Shape 1032">
            <a:extLst>
              <a:ext uri="{FF2B5EF4-FFF2-40B4-BE49-F238E27FC236}">
                <a16:creationId xmlns:a16="http://schemas.microsoft.com/office/drawing/2014/main" id="{7D42D292-4C48-479B-9E59-E29CD9871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4E32A1F1-9E29-A895-506A-321E86C050F1}"/>
              </a:ext>
            </a:extLst>
          </p:cNvPr>
          <p:cNvSpPr txBox="1"/>
          <p:nvPr/>
        </p:nvSpPr>
        <p:spPr>
          <a:xfrm>
            <a:off x="6151294" y="1946684"/>
            <a:ext cx="5397237"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a:t>Outputs from CNN, sentiment analysis, and LSTM are combined. </a:t>
            </a:r>
          </a:p>
          <a:p>
            <a:pPr indent="-228600">
              <a:lnSpc>
                <a:spcPct val="90000"/>
              </a:lnSpc>
              <a:spcAft>
                <a:spcPts val="600"/>
              </a:spcAft>
              <a:buFont typeface="Arial" panose="020B0604020202020204" pitchFamily="34" charset="0"/>
              <a:buChar char="•"/>
            </a:pPr>
            <a:r>
              <a:rPr lang="en-US"/>
              <a:t>A </a:t>
            </a:r>
            <a:r>
              <a:rPr lang="en-US" b="1"/>
              <a:t>weighted averaging (fusion)</a:t>
            </a:r>
            <a:r>
              <a:rPr lang="en-US"/>
              <a:t> technique is used. </a:t>
            </a:r>
          </a:p>
          <a:p>
            <a:pPr indent="-228600">
              <a:lnSpc>
                <a:spcPct val="90000"/>
              </a:lnSpc>
              <a:spcAft>
                <a:spcPts val="600"/>
              </a:spcAft>
              <a:buFont typeface="Arial" panose="020B0604020202020204" pitchFamily="34" charset="0"/>
              <a:buChar char="•"/>
            </a:pPr>
            <a:r>
              <a:rPr lang="en-US"/>
              <a:t>Each model contributes based on its importance. </a:t>
            </a:r>
          </a:p>
          <a:p>
            <a:pPr indent="-228600">
              <a:lnSpc>
                <a:spcPct val="90000"/>
              </a:lnSpc>
              <a:spcAft>
                <a:spcPts val="600"/>
              </a:spcAft>
              <a:buFont typeface="Arial" panose="020B0604020202020204" pitchFamily="34" charset="0"/>
              <a:buChar char="•"/>
            </a:pPr>
            <a:r>
              <a:rPr lang="en-US"/>
              <a:t>Improves: </a:t>
            </a:r>
          </a:p>
          <a:p>
            <a:pPr lvl="1" indent="-228600">
              <a:lnSpc>
                <a:spcPct val="90000"/>
              </a:lnSpc>
              <a:spcAft>
                <a:spcPts val="600"/>
              </a:spcAft>
              <a:buFont typeface="Arial" panose="020B0604020202020204" pitchFamily="34" charset="0"/>
              <a:buChar char="•"/>
            </a:pPr>
            <a:r>
              <a:rPr lang="en-US"/>
              <a:t>Accuracy </a:t>
            </a:r>
          </a:p>
          <a:p>
            <a:pPr lvl="1" indent="-228600">
              <a:lnSpc>
                <a:spcPct val="90000"/>
              </a:lnSpc>
              <a:spcAft>
                <a:spcPts val="600"/>
              </a:spcAft>
              <a:buFont typeface="Arial" panose="020B0604020202020204" pitchFamily="34" charset="0"/>
              <a:buChar char="•"/>
            </a:pPr>
            <a:r>
              <a:rPr lang="en-US"/>
              <a:t>Reliability </a:t>
            </a:r>
          </a:p>
          <a:p>
            <a:pPr lvl="1" indent="-228600">
              <a:lnSpc>
                <a:spcPct val="90000"/>
              </a:lnSpc>
              <a:spcAft>
                <a:spcPts val="600"/>
              </a:spcAft>
              <a:buFont typeface="Arial" panose="020B0604020202020204" pitchFamily="34" charset="0"/>
              <a:buChar char="•"/>
            </a:pPr>
            <a:r>
              <a:rPr lang="en-US"/>
              <a:t>Overall prediction performance </a:t>
            </a:r>
          </a:p>
          <a:p>
            <a:pPr indent="-228600">
              <a:lnSpc>
                <a:spcPct val="90000"/>
              </a:lnSpc>
              <a:spcAft>
                <a:spcPts val="600"/>
              </a:spcAft>
              <a:buFont typeface="Arial" panose="020B0604020202020204" pitchFamily="34" charset="0"/>
              <a:buChar char="•"/>
            </a:pPr>
            <a:endParaRPr lang="en-US"/>
          </a:p>
        </p:txBody>
      </p:sp>
      <p:sp>
        <p:nvSpPr>
          <p:cNvPr id="1035" name="Arc 1034">
            <a:extLst>
              <a:ext uri="{FF2B5EF4-FFF2-40B4-BE49-F238E27FC236}">
                <a16:creationId xmlns:a16="http://schemas.microsoft.com/office/drawing/2014/main" id="{533DF362-939D-4EEE-8DC4-6B54607E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95198">
            <a:off x="1539683" y="162676"/>
            <a:ext cx="4083433" cy="4083433"/>
          </a:xfrm>
          <a:prstGeom prst="arc">
            <a:avLst>
              <a:gd name="adj1" fmla="val 17445962"/>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028" name="Picture 4">
            <a:extLst>
              <a:ext uri="{FF2B5EF4-FFF2-40B4-BE49-F238E27FC236}">
                <a16:creationId xmlns:a16="http://schemas.microsoft.com/office/drawing/2014/main" id="{2A2E9043-2982-7A2A-1405-580082298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8656" y="3464978"/>
            <a:ext cx="2967876" cy="2781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021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EACF47-7B6C-C8C0-7B0E-31C7E12D562C}"/>
              </a:ext>
            </a:extLst>
          </p:cNvPr>
          <p:cNvSpPr txBox="1"/>
          <p:nvPr/>
        </p:nvSpPr>
        <p:spPr>
          <a:xfrm>
            <a:off x="956441" y="872359"/>
            <a:ext cx="4676858" cy="892552"/>
          </a:xfrm>
          <a:prstGeom prst="rect">
            <a:avLst/>
          </a:prstGeom>
          <a:noFill/>
        </p:spPr>
        <p:txBody>
          <a:bodyPr wrap="none" rtlCol="0">
            <a:spAutoFit/>
          </a:bodyPr>
          <a:lstStyle/>
          <a:p>
            <a:r>
              <a:rPr lang="en-US" sz="3200" b="1" dirty="0"/>
              <a:t>SYSTEM ARCHITECTURE</a:t>
            </a:r>
          </a:p>
          <a:p>
            <a:endParaRPr lang="en-US" b="1" dirty="0"/>
          </a:p>
        </p:txBody>
      </p:sp>
      <p:sp>
        <p:nvSpPr>
          <p:cNvPr id="8" name="Rectangle 3">
            <a:extLst>
              <a:ext uri="{FF2B5EF4-FFF2-40B4-BE49-F238E27FC236}">
                <a16:creationId xmlns:a16="http://schemas.microsoft.com/office/drawing/2014/main" id="{C570867A-74B5-C84B-5A64-660CF2540B92}"/>
              </a:ext>
            </a:extLst>
          </p:cNvPr>
          <p:cNvSpPr>
            <a:spLocks noChangeArrowheads="1"/>
          </p:cNvSpPr>
          <p:nvPr/>
        </p:nvSpPr>
        <p:spPr bwMode="auto">
          <a:xfrm>
            <a:off x="0" y="-323165"/>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1" name="TextBox 10">
            <a:extLst>
              <a:ext uri="{FF2B5EF4-FFF2-40B4-BE49-F238E27FC236}">
                <a16:creationId xmlns:a16="http://schemas.microsoft.com/office/drawing/2014/main" id="{2E9DF187-0C88-CF30-91DA-F5BA6E9452C5}"/>
              </a:ext>
            </a:extLst>
          </p:cNvPr>
          <p:cNvSpPr txBox="1"/>
          <p:nvPr/>
        </p:nvSpPr>
        <p:spPr>
          <a:xfrm>
            <a:off x="735724" y="1764911"/>
            <a:ext cx="5265683" cy="3693319"/>
          </a:xfrm>
          <a:prstGeom prst="rect">
            <a:avLst/>
          </a:prstGeom>
          <a:noFill/>
        </p:spPr>
        <p:txBody>
          <a:bodyPr wrap="square" rtlCol="0">
            <a:spAutoFit/>
          </a:bodyPr>
          <a:lstStyle/>
          <a:p>
            <a:r>
              <a:rPr lang="en-IN" dirty="0"/>
              <a:t>The system processes </a:t>
            </a:r>
            <a:r>
              <a:rPr lang="en-IN" b="1" dirty="0"/>
              <a:t>image, text, and time-series data</a:t>
            </a:r>
            <a:r>
              <a:rPr lang="en-IN" dirty="0"/>
              <a:t> in parallel. </a:t>
            </a:r>
          </a:p>
          <a:p>
            <a:endParaRPr lang="en-IN" dirty="0"/>
          </a:p>
          <a:p>
            <a:r>
              <a:rPr lang="en-IN" dirty="0"/>
              <a:t>CNN extracts visual features from images. </a:t>
            </a:r>
          </a:p>
          <a:p>
            <a:r>
              <a:rPr lang="en-IN" dirty="0"/>
              <a:t>Sentiment analysis captures customer opinions from text data. </a:t>
            </a:r>
          </a:p>
          <a:p>
            <a:endParaRPr lang="en-IN" dirty="0"/>
          </a:p>
          <a:p>
            <a:r>
              <a:rPr lang="en-IN" dirty="0"/>
              <a:t>LSTM models temporal patterns from time-series data. </a:t>
            </a:r>
          </a:p>
          <a:p>
            <a:endParaRPr lang="en-IN" dirty="0"/>
          </a:p>
          <a:p>
            <a:r>
              <a:rPr lang="en-IN" dirty="0"/>
              <a:t>Outputs are combined using an </a:t>
            </a:r>
            <a:r>
              <a:rPr lang="en-IN" b="1" dirty="0"/>
              <a:t>ensemble model</a:t>
            </a:r>
            <a:r>
              <a:rPr lang="en-IN" dirty="0"/>
              <a:t> to generate the final trend. </a:t>
            </a:r>
          </a:p>
          <a:p>
            <a:endParaRPr lang="en-US" dirty="0"/>
          </a:p>
        </p:txBody>
      </p:sp>
    </p:spTree>
    <p:extLst>
      <p:ext uri="{BB962C8B-B14F-4D97-AF65-F5344CB8AC3E}">
        <p14:creationId xmlns:p14="http://schemas.microsoft.com/office/powerpoint/2010/main" val="1038140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E26856-B82F-4487-CC43-92B97556507B}"/>
              </a:ext>
            </a:extLst>
          </p:cNvPr>
          <p:cNvSpPr txBox="1"/>
          <p:nvPr/>
        </p:nvSpPr>
        <p:spPr>
          <a:xfrm>
            <a:off x="1524000" y="4914855"/>
            <a:ext cx="9144000" cy="786703"/>
          </a:xfrm>
          <a:prstGeom prst="rect">
            <a:avLst/>
          </a:prstGeom>
        </p:spPr>
        <p:txBody>
          <a:bodyPr vert="horz" lIns="91440" tIns="45720" rIns="91440" bIns="45720" rtlCol="0" anchor="b">
            <a:normAutofit fontScale="25000" lnSpcReduction="20000"/>
          </a:bodyPr>
          <a:lstStyle/>
          <a:p>
            <a:r>
              <a:rPr lang="en-IN" sz="3600" dirty="0"/>
              <a:t>This graph shows the </a:t>
            </a:r>
            <a:r>
              <a:rPr lang="en-IN" sz="3600" b="1" dirty="0"/>
              <a:t>final trend score predicted by the ensemble model</a:t>
            </a:r>
            <a:r>
              <a:rPr lang="en-IN" sz="3600" dirty="0"/>
              <a:t>. </a:t>
            </a:r>
          </a:p>
          <a:p>
            <a:r>
              <a:rPr lang="en-IN" sz="3600" dirty="0"/>
              <a:t>The values range roughly between </a:t>
            </a:r>
            <a:r>
              <a:rPr lang="en-IN" sz="3600" b="1" dirty="0"/>
              <a:t>0.4 to 1.0</a:t>
            </a:r>
            <a:r>
              <a:rPr lang="en-IN" sz="3600" dirty="0"/>
              <a:t>, indicating varying trend intensity. </a:t>
            </a:r>
          </a:p>
          <a:p>
            <a:r>
              <a:rPr lang="en-IN" sz="3600" dirty="0"/>
              <a:t>Peaks in the graph represent </a:t>
            </a:r>
            <a:r>
              <a:rPr lang="en-IN" sz="3600" b="1" dirty="0"/>
              <a:t>high trend popularity</a:t>
            </a:r>
            <a:r>
              <a:rPr lang="en-IN" sz="3600" dirty="0"/>
              <a:t>, while dips indicate </a:t>
            </a:r>
            <a:r>
              <a:rPr lang="en-IN" sz="3600" b="1" dirty="0"/>
              <a:t>lower trend relevance</a:t>
            </a:r>
            <a:r>
              <a:rPr lang="en-IN" sz="3600" dirty="0"/>
              <a:t>. </a:t>
            </a:r>
          </a:p>
          <a:p>
            <a:r>
              <a:rPr lang="en-IN" sz="3600" dirty="0"/>
              <a:t>The fluctuations show that fashion trends are </a:t>
            </a:r>
            <a:r>
              <a:rPr lang="en-IN" sz="3600" b="1" dirty="0"/>
              <a:t>dynamic and change over time</a:t>
            </a:r>
            <a:r>
              <a:rPr lang="en-IN" sz="3600" dirty="0"/>
              <a:t>. </a:t>
            </a:r>
          </a:p>
          <a:p>
            <a:r>
              <a:rPr lang="en-IN" sz="3600" dirty="0"/>
              <a:t>Overall, the model successfully captures </a:t>
            </a:r>
            <a:r>
              <a:rPr lang="en-IN" sz="3600" b="1" dirty="0"/>
              <a:t>real-world trend variations</a:t>
            </a:r>
            <a:r>
              <a:rPr lang="en-IN" sz="3600" dirty="0"/>
              <a:t>. This graph shows the </a:t>
            </a:r>
            <a:r>
              <a:rPr lang="en-IN" sz="3600" b="1" dirty="0"/>
              <a:t>performance metrics of the ensemble model</a:t>
            </a:r>
            <a:r>
              <a:rPr lang="en-IN" sz="3600" dirty="0"/>
              <a:t>.</a:t>
            </a:r>
          </a:p>
          <a:p>
            <a:pPr algn="ctr">
              <a:lnSpc>
                <a:spcPct val="90000"/>
              </a:lnSpc>
              <a:spcBef>
                <a:spcPct val="0"/>
              </a:spcBef>
              <a:spcAft>
                <a:spcPts val="600"/>
              </a:spcAft>
            </a:pPr>
            <a:endParaRPr lang="en-US" sz="3600" b="1" dirty="0">
              <a:latin typeface="+mj-lt"/>
              <a:ea typeface="+mj-ea"/>
              <a:cs typeface="+mj-cs"/>
            </a:endParaRPr>
          </a:p>
        </p:txBody>
      </p:sp>
      <p:sp>
        <p:nvSpPr>
          <p:cNvPr id="3" name="TextBox 2">
            <a:extLst>
              <a:ext uri="{FF2B5EF4-FFF2-40B4-BE49-F238E27FC236}">
                <a16:creationId xmlns:a16="http://schemas.microsoft.com/office/drawing/2014/main" id="{54751950-7105-ECF9-D783-62D3E0B42D10}"/>
              </a:ext>
            </a:extLst>
          </p:cNvPr>
          <p:cNvSpPr txBox="1"/>
          <p:nvPr/>
        </p:nvSpPr>
        <p:spPr>
          <a:xfrm>
            <a:off x="1524000" y="5701559"/>
            <a:ext cx="9144000" cy="571363"/>
          </a:xfrm>
          <a:prstGeom prst="rect">
            <a:avLst/>
          </a:prstGeom>
        </p:spPr>
        <p:txBody>
          <a:bodyPr vert="horz" lIns="91440" tIns="45720" rIns="91440" bIns="45720" rtlCol="0">
            <a:normAutofit/>
          </a:bodyPr>
          <a:lstStyle/>
          <a:p>
            <a:pPr algn="ctr">
              <a:lnSpc>
                <a:spcPct val="90000"/>
              </a:lnSpc>
              <a:spcBef>
                <a:spcPts val="1000"/>
              </a:spcBef>
            </a:pPr>
            <a:r>
              <a:rPr lang="en-US"/>
              <a:t>Multi-modal Fashion Trend Prediction Framework</a:t>
            </a:r>
          </a:p>
        </p:txBody>
      </p:sp>
      <p:pic>
        <p:nvPicPr>
          <p:cNvPr id="8" name="Picture 7" descr="A graph showing a fashion trend&#10;&#10;AI-generated content may be incorrect.">
            <a:extLst>
              <a:ext uri="{FF2B5EF4-FFF2-40B4-BE49-F238E27FC236}">
                <a16:creationId xmlns:a16="http://schemas.microsoft.com/office/drawing/2014/main" id="{5F7B145C-BDC3-A1C4-2F9B-E8C4023A91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50178" y="966105"/>
            <a:ext cx="4673368" cy="3716481"/>
          </a:xfrm>
          <a:prstGeom prst="rect">
            <a:avLst/>
          </a:prstGeom>
          <a:noFill/>
        </p:spPr>
      </p:pic>
      <p:pic>
        <p:nvPicPr>
          <p:cNvPr id="5" name="Picture 4" descr="A bar graph with blue rectangular bars&#10;&#10;AI-generated content may be incorrect.">
            <a:extLst>
              <a:ext uri="{FF2B5EF4-FFF2-40B4-BE49-F238E27FC236}">
                <a16:creationId xmlns:a16="http://schemas.microsoft.com/office/drawing/2014/main" id="{D49C683A-9757-82D3-45B3-462B744B6D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096000" y="1156442"/>
            <a:ext cx="4674818" cy="3490508"/>
          </a:xfrm>
          <a:prstGeom prst="rect">
            <a:avLst/>
          </a:prstGeom>
          <a:noFill/>
        </p:spPr>
      </p:pic>
      <p:grpSp>
        <p:nvGrpSpPr>
          <p:cNvPr id="26" name="Group 25">
            <a:extLst>
              <a:ext uri="{FF2B5EF4-FFF2-40B4-BE49-F238E27FC236}">
                <a16:creationId xmlns:a16="http://schemas.microsoft.com/office/drawing/2014/main" id="{B0F380AC-9202-53E9-8D39-90E7C2AC75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6737460"/>
            <a:ext cx="12192000" cy="123364"/>
            <a:chOff x="1" y="6737460"/>
            <a:chExt cx="12192000" cy="123364"/>
          </a:xfrm>
        </p:grpSpPr>
        <p:sp>
          <p:nvSpPr>
            <p:cNvPr id="27" name="Rectangle 26">
              <a:extLst>
                <a:ext uri="{FF2B5EF4-FFF2-40B4-BE49-F238E27FC236}">
                  <a16:creationId xmlns:a16="http://schemas.microsoft.com/office/drawing/2014/main" id="{B9334AC3-F97B-AAEB-193C-D6FEF2851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CF0F8F8-6D3A-38F2-F9D7-AA175316B2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69B25708-13C8-504A-5F8C-F6D7738DC7F1}"/>
              </a:ext>
            </a:extLst>
          </p:cNvPr>
          <p:cNvSpPr txBox="1"/>
          <p:nvPr/>
        </p:nvSpPr>
        <p:spPr>
          <a:xfrm>
            <a:off x="1088571" y="170120"/>
            <a:ext cx="6923315" cy="754053"/>
          </a:xfrm>
          <a:prstGeom prst="rect">
            <a:avLst/>
          </a:prstGeom>
          <a:noFill/>
        </p:spPr>
        <p:txBody>
          <a:bodyPr wrap="square" rtlCol="0">
            <a:spAutoFit/>
          </a:bodyPr>
          <a:lstStyle/>
          <a:p>
            <a:r>
              <a:rPr lang="en-US" sz="3600" b="1" dirty="0"/>
              <a:t>Results</a:t>
            </a:r>
            <a:r>
              <a:rPr lang="en-US" sz="100" b="1" dirty="0"/>
              <a:t> </a:t>
            </a:r>
          </a:p>
          <a:p>
            <a:endParaRPr lang="en-US" sz="600" dirty="0"/>
          </a:p>
        </p:txBody>
      </p:sp>
    </p:spTree>
    <p:extLst>
      <p:ext uri="{BB962C8B-B14F-4D97-AF65-F5344CB8AC3E}">
        <p14:creationId xmlns:p14="http://schemas.microsoft.com/office/powerpoint/2010/main" val="329028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879AC3-D4CE-493C-ADC7-06205677F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0" name="Freeform: Shape 9">
            <a:extLst>
              <a:ext uri="{FF2B5EF4-FFF2-40B4-BE49-F238E27FC236}">
                <a16:creationId xmlns:a16="http://schemas.microsoft.com/office/drawing/2014/main" id="{736F0DFD-0954-464F-BF12-DD2E6F6E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graphicFrame>
        <p:nvGraphicFramePr>
          <p:cNvPr id="3" name="Table 2">
            <a:extLst>
              <a:ext uri="{FF2B5EF4-FFF2-40B4-BE49-F238E27FC236}">
                <a16:creationId xmlns:a16="http://schemas.microsoft.com/office/drawing/2014/main" id="{552D1C00-B318-706E-CEDD-F13789F81F64}"/>
              </a:ext>
            </a:extLst>
          </p:cNvPr>
          <p:cNvGraphicFramePr>
            <a:graphicFrameLocks noGrp="1"/>
          </p:cNvGraphicFramePr>
          <p:nvPr>
            <p:extLst>
              <p:ext uri="{D42A27DB-BD31-4B8C-83A1-F6EECF244321}">
                <p14:modId xmlns:p14="http://schemas.microsoft.com/office/powerpoint/2010/main" val="2138085531"/>
              </p:ext>
            </p:extLst>
          </p:nvPr>
        </p:nvGraphicFramePr>
        <p:xfrm>
          <a:off x="1637414" y="1350465"/>
          <a:ext cx="9113678" cy="4157069"/>
        </p:xfrm>
        <a:graphic>
          <a:graphicData uri="http://schemas.openxmlformats.org/drawingml/2006/table">
            <a:tbl>
              <a:tblPr/>
              <a:tblGrid>
                <a:gridCol w="1751333">
                  <a:extLst>
                    <a:ext uri="{9D8B030D-6E8A-4147-A177-3AD203B41FA5}">
                      <a16:colId xmlns:a16="http://schemas.microsoft.com/office/drawing/2014/main" val="2988249227"/>
                    </a:ext>
                  </a:extLst>
                </a:gridCol>
                <a:gridCol w="1811479">
                  <a:extLst>
                    <a:ext uri="{9D8B030D-6E8A-4147-A177-3AD203B41FA5}">
                      <a16:colId xmlns:a16="http://schemas.microsoft.com/office/drawing/2014/main" val="1518440401"/>
                    </a:ext>
                  </a:extLst>
                </a:gridCol>
                <a:gridCol w="1811479">
                  <a:extLst>
                    <a:ext uri="{9D8B030D-6E8A-4147-A177-3AD203B41FA5}">
                      <a16:colId xmlns:a16="http://schemas.microsoft.com/office/drawing/2014/main" val="3639163565"/>
                    </a:ext>
                  </a:extLst>
                </a:gridCol>
                <a:gridCol w="1332071">
                  <a:extLst>
                    <a:ext uri="{9D8B030D-6E8A-4147-A177-3AD203B41FA5}">
                      <a16:colId xmlns:a16="http://schemas.microsoft.com/office/drawing/2014/main" val="1291946499"/>
                    </a:ext>
                  </a:extLst>
                </a:gridCol>
                <a:gridCol w="1280706">
                  <a:extLst>
                    <a:ext uri="{9D8B030D-6E8A-4147-A177-3AD203B41FA5}">
                      <a16:colId xmlns:a16="http://schemas.microsoft.com/office/drawing/2014/main" val="2732760369"/>
                    </a:ext>
                  </a:extLst>
                </a:gridCol>
                <a:gridCol w="1126610">
                  <a:extLst>
                    <a:ext uri="{9D8B030D-6E8A-4147-A177-3AD203B41FA5}">
                      <a16:colId xmlns:a16="http://schemas.microsoft.com/office/drawing/2014/main" val="1533057810"/>
                    </a:ext>
                  </a:extLst>
                </a:gridCol>
              </a:tblGrid>
              <a:tr h="737885">
                <a:tc>
                  <a:txBody>
                    <a:bodyPr/>
                    <a:lstStyle/>
                    <a:p>
                      <a:pPr algn="l" fontAlgn="ctr">
                        <a:buNone/>
                      </a:pPr>
                      <a:r>
                        <a:rPr lang="en-IN" sz="2400" b="1" i="0" u="none" strike="noStrike">
                          <a:effectLst/>
                          <a:latin typeface="Arial" panose="020B0604020202020204" pitchFamily="34" charset="0"/>
                        </a:rPr>
                        <a:t>Model</a:t>
                      </a:r>
                      <a:endParaRPr lang="en-IN" sz="2400" b="0" i="0" u="none" strike="noStrike">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r>
                        <a:rPr lang="en-IN" sz="2400" b="1" i="0" u="none" strike="noStrike">
                          <a:effectLst/>
                          <a:latin typeface="Arial" panose="020B0604020202020204" pitchFamily="34" charset="0"/>
                        </a:rPr>
                        <a:t>Accuracy (%)</a:t>
                      </a:r>
                      <a:endParaRPr lang="en-IN" sz="2400" b="0" i="0" u="none" strike="noStrike">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r>
                        <a:rPr lang="en-IN" sz="2400" b="1" i="0" u="none" strike="noStrike">
                          <a:effectLst/>
                          <a:latin typeface="Arial" panose="020B0604020202020204" pitchFamily="34" charset="0"/>
                        </a:rPr>
                        <a:t>Precision</a:t>
                      </a:r>
                      <a:endParaRPr lang="en-IN" sz="2400" b="0" i="0" u="none" strike="noStrike">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r>
                        <a:rPr lang="en-IN" sz="2400" b="1" i="0" u="none" strike="noStrike">
                          <a:effectLst/>
                          <a:latin typeface="Arial" panose="020B0604020202020204" pitchFamily="34" charset="0"/>
                        </a:rPr>
                        <a:t>Recall</a:t>
                      </a:r>
                      <a:endParaRPr lang="en-IN" sz="2400" b="0" i="0" u="none" strike="noStrike">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r>
                        <a:rPr lang="en-IN" sz="2400" b="1" i="0" u="none" strike="noStrike">
                          <a:effectLst/>
                          <a:latin typeface="Arial" panose="020B0604020202020204" pitchFamily="34" charset="0"/>
                        </a:rPr>
                        <a:t>F1 Score</a:t>
                      </a:r>
                      <a:endParaRPr lang="en-IN" sz="2400" b="0" i="0" u="none" strike="noStrike">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r>
                        <a:rPr lang="en-IN" sz="2400" b="1" i="0" u="none" strike="noStrike" dirty="0">
                          <a:effectLst/>
                          <a:latin typeface="Arial" panose="020B0604020202020204" pitchFamily="34" charset="0"/>
                        </a:rPr>
                        <a:t>MCC</a:t>
                      </a: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extLst>
                  <a:ext uri="{0D108BD9-81ED-4DB2-BD59-A6C34878D82A}">
                    <a16:rowId xmlns:a16="http://schemas.microsoft.com/office/drawing/2014/main" val="2016849086"/>
                  </a:ext>
                </a:extLst>
              </a:tr>
              <a:tr h="737885">
                <a:tc>
                  <a:txBody>
                    <a:bodyPr/>
                    <a:lstStyle/>
                    <a:p>
                      <a:pPr algn="l" fontAlgn="ctr">
                        <a:buNone/>
                      </a:pPr>
                      <a:r>
                        <a:rPr lang="en-IN" sz="2400" b="0" i="0" u="none" strike="noStrike">
                          <a:effectLst/>
                          <a:latin typeface="Arial" panose="020B0604020202020204" pitchFamily="34" charset="0"/>
                        </a:rPr>
                        <a:t>CNN Model</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53%</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0.54</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0.53</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0.52</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0.56</a:t>
                      </a:r>
                    </a:p>
                  </a:txBody>
                  <a:tcPr marL="123276" marR="123276" marT="61638" marB="61638" anchor="ctr">
                    <a:lnL>
                      <a:noFill/>
                    </a:lnL>
                    <a:lnR>
                      <a:noFill/>
                    </a:lnR>
                    <a:lnT>
                      <a:noFill/>
                    </a:lnT>
                    <a:lnB>
                      <a:noFill/>
                    </a:lnB>
                    <a:noFill/>
                  </a:tcPr>
                </a:tc>
                <a:extLst>
                  <a:ext uri="{0D108BD9-81ED-4DB2-BD59-A6C34878D82A}">
                    <a16:rowId xmlns:a16="http://schemas.microsoft.com/office/drawing/2014/main" val="593093768"/>
                  </a:ext>
                </a:extLst>
              </a:tr>
              <a:tr h="737885">
                <a:tc>
                  <a:txBody>
                    <a:bodyPr/>
                    <a:lstStyle/>
                    <a:p>
                      <a:pPr algn="l" fontAlgn="ctr">
                        <a:buNone/>
                      </a:pPr>
                      <a:r>
                        <a:rPr lang="en-IN" sz="2400" b="0" i="0" u="none" strike="noStrike">
                          <a:effectLst/>
                          <a:latin typeface="Arial" panose="020B0604020202020204" pitchFamily="34" charset="0"/>
                        </a:rPr>
                        <a:t>Sentiment Analysis</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90.26%</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0.93</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0.96</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0.94</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a:effectLst/>
                          <a:latin typeface="Arial" panose="020B0604020202020204" pitchFamily="34" charset="0"/>
                        </a:rPr>
                        <a:t>0.68</a:t>
                      </a:r>
                    </a:p>
                  </a:txBody>
                  <a:tcPr marL="123276" marR="123276" marT="61638" marB="61638" anchor="ctr">
                    <a:lnL>
                      <a:noFill/>
                    </a:lnL>
                    <a:lnR>
                      <a:noFill/>
                    </a:lnR>
                    <a:lnT>
                      <a:noFill/>
                    </a:lnT>
                    <a:lnB>
                      <a:noFill/>
                    </a:lnB>
                    <a:noFill/>
                  </a:tcPr>
                </a:tc>
                <a:extLst>
                  <a:ext uri="{0D108BD9-81ED-4DB2-BD59-A6C34878D82A}">
                    <a16:rowId xmlns:a16="http://schemas.microsoft.com/office/drawing/2014/main" val="925353762"/>
                  </a:ext>
                </a:extLst>
              </a:tr>
              <a:tr h="737885">
                <a:tc>
                  <a:txBody>
                    <a:bodyPr/>
                    <a:lstStyle/>
                    <a:p>
                      <a:pPr algn="l" fontAlgn="ctr">
                        <a:buNone/>
                      </a:pPr>
                      <a:r>
                        <a:rPr lang="en-IN" sz="2400" b="0" i="0" u="none" strike="noStrike" dirty="0">
                          <a:effectLst/>
                          <a:latin typeface="Arial" panose="020B0604020202020204" pitchFamily="34" charset="0"/>
                        </a:rPr>
                        <a:t>Ensemble Model</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80%</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0.83</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0.94</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0.88</a:t>
                      </a:r>
                    </a:p>
                  </a:txBody>
                  <a:tcPr marL="123276" marR="123276" marT="61638" marB="61638" anchor="ctr">
                    <a:lnL>
                      <a:noFill/>
                    </a:lnL>
                    <a:lnR>
                      <a:noFill/>
                    </a:lnR>
                    <a:lnT>
                      <a:noFill/>
                    </a:lnT>
                    <a:lnB>
                      <a:noFill/>
                    </a:lnB>
                    <a:noFill/>
                  </a:tcPr>
                </a:tc>
                <a:tc>
                  <a:txBody>
                    <a:bodyPr/>
                    <a:lstStyle/>
                    <a:p>
                      <a:pPr algn="l" fontAlgn="ctr">
                        <a:buNone/>
                      </a:pPr>
                      <a:r>
                        <a:rPr lang="en-IN" sz="2400" b="0" i="0" u="none" strike="noStrike" dirty="0">
                          <a:effectLst/>
                          <a:latin typeface="Arial" panose="020B0604020202020204" pitchFamily="34" charset="0"/>
                        </a:rPr>
                        <a:t>0.25</a:t>
                      </a:r>
                    </a:p>
                  </a:txBody>
                  <a:tcPr marL="123276" marR="123276" marT="61638" marB="61638" anchor="ctr">
                    <a:lnL>
                      <a:noFill/>
                    </a:lnL>
                    <a:lnR>
                      <a:noFill/>
                    </a:lnR>
                    <a:lnT>
                      <a:noFill/>
                    </a:lnT>
                    <a:lnB>
                      <a:noFill/>
                    </a:lnB>
                    <a:noFill/>
                  </a:tcPr>
                </a:tc>
                <a:extLst>
                  <a:ext uri="{0D108BD9-81ED-4DB2-BD59-A6C34878D82A}">
                    <a16:rowId xmlns:a16="http://schemas.microsoft.com/office/drawing/2014/main" val="494149709"/>
                  </a:ext>
                </a:extLst>
              </a:tr>
              <a:tr h="737885">
                <a:tc>
                  <a:txBody>
                    <a:bodyPr/>
                    <a:lstStyle/>
                    <a:p>
                      <a:pPr algn="l" fontAlgn="ctr">
                        <a:buNone/>
                      </a:pP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tc>
                  <a:txBody>
                    <a:bodyPr/>
                    <a:lstStyle/>
                    <a:p>
                      <a:pPr algn="l" fontAlgn="ctr">
                        <a:buNone/>
                      </a:pPr>
                      <a:endParaRPr lang="en-IN" sz="2400" b="0" i="0" u="none" strike="noStrike" dirty="0">
                        <a:effectLst/>
                        <a:latin typeface="Arial" panose="020B0604020202020204" pitchFamily="34" charset="0"/>
                      </a:endParaRPr>
                    </a:p>
                  </a:txBody>
                  <a:tcPr marL="123276" marR="123276" marT="61638" marB="61638" anchor="ctr">
                    <a:lnL>
                      <a:noFill/>
                    </a:lnL>
                    <a:lnR>
                      <a:noFill/>
                    </a:lnR>
                    <a:lnT>
                      <a:noFill/>
                    </a:lnT>
                    <a:lnB>
                      <a:noFill/>
                    </a:lnB>
                    <a:noFill/>
                  </a:tcPr>
                </a:tc>
                <a:extLst>
                  <a:ext uri="{0D108BD9-81ED-4DB2-BD59-A6C34878D82A}">
                    <a16:rowId xmlns:a16="http://schemas.microsoft.com/office/drawing/2014/main" val="1490574525"/>
                  </a:ext>
                </a:extLst>
              </a:tr>
            </a:tbl>
          </a:graphicData>
        </a:graphic>
      </p:graphicFrame>
      <p:sp>
        <p:nvSpPr>
          <p:cNvPr id="4" name="TextBox 3">
            <a:extLst>
              <a:ext uri="{FF2B5EF4-FFF2-40B4-BE49-F238E27FC236}">
                <a16:creationId xmlns:a16="http://schemas.microsoft.com/office/drawing/2014/main" id="{B7C89DFD-DA19-EC23-AB16-607A43646483}"/>
              </a:ext>
            </a:extLst>
          </p:cNvPr>
          <p:cNvSpPr txBox="1"/>
          <p:nvPr/>
        </p:nvSpPr>
        <p:spPr>
          <a:xfrm>
            <a:off x="1176001" y="5536435"/>
            <a:ext cx="10392222" cy="1200329"/>
          </a:xfrm>
          <a:prstGeom prst="rect">
            <a:avLst/>
          </a:prstGeom>
          <a:noFill/>
        </p:spPr>
        <p:txBody>
          <a:bodyPr wrap="square" rtlCol="0">
            <a:spAutoFit/>
          </a:bodyPr>
          <a:lstStyle/>
          <a:p>
            <a:pPr algn="just"/>
            <a:r>
              <a:rPr lang="en-IN" b="1" dirty="0"/>
              <a:t>The LSTM model captures time-based patterns and predicts trends. It performs well overall but struggles slightly with sudden spikes.</a:t>
            </a:r>
          </a:p>
          <a:p>
            <a:pPr marL="285750" indent="-285750" algn="just">
              <a:buFont typeface="Arial" panose="020B0604020202020204" pitchFamily="34" charset="0"/>
              <a:buChar char="•"/>
            </a:pPr>
            <a:r>
              <a:rPr lang="en-IN" dirty="0"/>
              <a:t>LSTM is NOT classification → it is regression</a:t>
            </a:r>
            <a:endParaRPr lang="en-IN" b="1" dirty="0"/>
          </a:p>
          <a:p>
            <a:pPr algn="just"/>
            <a:endParaRPr lang="en-US" b="1" dirty="0"/>
          </a:p>
        </p:txBody>
      </p:sp>
      <p:sp>
        <p:nvSpPr>
          <p:cNvPr id="5" name="TextBox 4">
            <a:extLst>
              <a:ext uri="{FF2B5EF4-FFF2-40B4-BE49-F238E27FC236}">
                <a16:creationId xmlns:a16="http://schemas.microsoft.com/office/drawing/2014/main" id="{CD35054E-6BB9-186F-EEB5-9CC97621D135}"/>
              </a:ext>
            </a:extLst>
          </p:cNvPr>
          <p:cNvSpPr txBox="1"/>
          <p:nvPr/>
        </p:nvSpPr>
        <p:spPr>
          <a:xfrm>
            <a:off x="754913" y="606056"/>
            <a:ext cx="1871330" cy="307777"/>
          </a:xfrm>
          <a:prstGeom prst="rect">
            <a:avLst/>
          </a:prstGeom>
          <a:noFill/>
        </p:spPr>
        <p:txBody>
          <a:bodyPr wrap="square" rtlCol="0">
            <a:spAutoFit/>
          </a:bodyPr>
          <a:lstStyle/>
          <a:p>
            <a:r>
              <a:rPr lang="en-US" sz="1400" dirty="0"/>
              <a:t>Continued…</a:t>
            </a:r>
          </a:p>
        </p:txBody>
      </p:sp>
    </p:spTree>
    <p:extLst>
      <p:ext uri="{BB962C8B-B14F-4D97-AF65-F5344CB8AC3E}">
        <p14:creationId xmlns:p14="http://schemas.microsoft.com/office/powerpoint/2010/main" val="1323290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pPr marL="0" indent="0" algn="just">
              <a:buNone/>
            </a:pPr>
            <a:r>
              <a:rPr lang="en-US" dirty="0"/>
              <a:t>T</a:t>
            </a:r>
            <a:r>
              <a:rPr lang="en-IN" dirty="0"/>
              <a:t>he proposed research work is currently under development and is in the process of being finalized for publication. Preliminary results indicate promising performance of the multi-modal ensemble approach in fashion trend prediction. The study is being further refined to enhance accuracy and robustness before final submission.</a:t>
            </a:r>
          </a:p>
          <a:p>
            <a:pPr marL="0" indent="0" algn="just">
              <a:buNone/>
            </a:pPr>
            <a:endParaRPr lang="en-US" dirty="0"/>
          </a:p>
        </p:txBody>
      </p:sp>
    </p:spTree>
    <p:extLst>
      <p:ext uri="{BB962C8B-B14F-4D97-AF65-F5344CB8AC3E}">
        <p14:creationId xmlns:p14="http://schemas.microsoft.com/office/powerpoint/2010/main" val="2154956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noAutofit/>
          </a:bodyPr>
          <a:lstStyle/>
          <a:p>
            <a:pPr marL="0" indent="0">
              <a:buNone/>
            </a:pPr>
            <a:r>
              <a:rPr lang="en-IN" sz="1400" i="1" dirty="0"/>
              <a:t>[1] A. </a:t>
            </a:r>
            <a:r>
              <a:rPr lang="en-IN" sz="1400" i="1" dirty="0" err="1"/>
              <a:t>Krizhevsky</a:t>
            </a:r>
            <a:r>
              <a:rPr lang="en-IN" sz="1400" i="1" dirty="0"/>
              <a:t>, I. </a:t>
            </a:r>
            <a:r>
              <a:rPr lang="en-IN" sz="1400" i="1" dirty="0" err="1"/>
              <a:t>Sutskever</a:t>
            </a:r>
            <a:r>
              <a:rPr lang="en-IN" sz="1400" i="1" dirty="0"/>
              <a:t>, and G. E. Hinton, “ImageNet classification with deep convolutional neural networks,” Advances in Neural Information Processing Systems, 2012.</a:t>
            </a:r>
          </a:p>
          <a:p>
            <a:pPr marL="0" indent="0">
              <a:buNone/>
            </a:pPr>
            <a:r>
              <a:rPr lang="en-IN" sz="1400" i="1" dirty="0"/>
              <a:t>[2] M. Sandler, A. Howard, M. Zhu, A. </a:t>
            </a:r>
            <a:r>
              <a:rPr lang="en-IN" sz="1400" i="1" dirty="0" err="1"/>
              <a:t>Zhmoginov</a:t>
            </a:r>
            <a:r>
              <a:rPr lang="en-IN" sz="1400" i="1" dirty="0"/>
              <a:t>, and L. Chen, “MobileNetV2: Inverted residuals and linear bottlenecks,” IEEE Conference on Computer Vision and Pattern Recognition (CVPR), 2018</a:t>
            </a:r>
          </a:p>
          <a:p>
            <a:pPr marL="0" indent="0">
              <a:buNone/>
            </a:pPr>
            <a:r>
              <a:rPr lang="en-IN" sz="1400" i="1" dirty="0"/>
              <a:t>[3] Y. Kim, “Convolutional neural networks for sentence classification,” Proceedings of the 2014 Conference on Empirical Methods in Natural Language Processing, 2014.</a:t>
            </a:r>
          </a:p>
          <a:p>
            <a:pPr marL="0" indent="0">
              <a:buNone/>
            </a:pPr>
            <a:r>
              <a:rPr lang="en-IN" sz="1400" i="1" dirty="0"/>
              <a:t>[4] J. Ramos, “Using TF-IDF to determine word relevance in document queries,” Proceedings of the First Instructional Conference on Machine Learning, 2003.</a:t>
            </a:r>
          </a:p>
          <a:p>
            <a:pPr marL="0" indent="0">
              <a:buNone/>
            </a:pPr>
            <a:r>
              <a:rPr lang="en-IN" sz="1400" i="1" dirty="0"/>
              <a:t>[5] D. </a:t>
            </a:r>
            <a:r>
              <a:rPr lang="en-IN" sz="1400" i="1" dirty="0" err="1"/>
              <a:t>Jurafsky</a:t>
            </a:r>
            <a:r>
              <a:rPr lang="en-IN" sz="1400" i="1" dirty="0"/>
              <a:t> and J. H. Martin, Speech and Language Processing, Pearson, 2019</a:t>
            </a:r>
          </a:p>
          <a:p>
            <a:pPr marL="0" indent="0">
              <a:buNone/>
            </a:pPr>
            <a:r>
              <a:rPr lang="en-IN" sz="1400" i="1" dirty="0"/>
              <a:t>[6] S. Hochreiter and J. </a:t>
            </a:r>
            <a:r>
              <a:rPr lang="en-IN" sz="1400" i="1" dirty="0" err="1"/>
              <a:t>Schmidhuber</a:t>
            </a:r>
            <a:r>
              <a:rPr lang="en-IN" sz="1400" i="1" dirty="0"/>
              <a:t>, “Long short-term memory,” Neural Computation, vol. 9, no. 8, pp. 1735–1780, 1997.</a:t>
            </a:r>
          </a:p>
          <a:p>
            <a:pPr marL="0" indent="0">
              <a:buNone/>
            </a:pPr>
            <a:r>
              <a:rPr lang="en-IN" sz="1400" i="1" dirty="0"/>
              <a:t>[7] T. </a:t>
            </a:r>
            <a:r>
              <a:rPr lang="en-IN" sz="1400" i="1" dirty="0" err="1"/>
              <a:t>Mikolov</a:t>
            </a:r>
            <a:r>
              <a:rPr lang="en-IN" sz="1400" i="1" dirty="0"/>
              <a:t> et al., “Recurrent neural network based language model,” INTERSPEECH, 2010</a:t>
            </a:r>
          </a:p>
          <a:p>
            <a:pPr marL="0" indent="0">
              <a:buNone/>
            </a:pPr>
            <a:r>
              <a:rPr lang="en-IN" sz="1400" i="1" dirty="0"/>
              <a:t>[8] L. </a:t>
            </a:r>
            <a:r>
              <a:rPr lang="en-IN" sz="1400" i="1" dirty="0" err="1"/>
              <a:t>Breiman</a:t>
            </a:r>
            <a:r>
              <a:rPr lang="en-IN" sz="1400" i="1" dirty="0"/>
              <a:t>, “Bagging predictors,” Machine Learning, vol. 24, no. 2, pp. 123–140, 1996.</a:t>
            </a:r>
          </a:p>
          <a:p>
            <a:pPr marL="0" indent="0">
              <a:buNone/>
            </a:pPr>
            <a:r>
              <a:rPr lang="en-IN" sz="1400" i="1" dirty="0"/>
              <a:t>[9] T. G. Dietterich, “Ensemble methods in machine learning,” Multiple Classifier Systems, 2000.</a:t>
            </a:r>
          </a:p>
          <a:p>
            <a:pPr marL="0" indent="0">
              <a:buNone/>
            </a:pPr>
            <a:r>
              <a:rPr lang="en-IN" sz="1400" i="1" dirty="0"/>
              <a:t>[10] B. Liu, Sentiment Analysis and Opinion Mining, Morgan &amp; Claypool Publishers, 2012.</a:t>
            </a:r>
          </a:p>
          <a:p>
            <a:pPr marL="0" indent="0">
              <a:buNone/>
            </a:pPr>
            <a:r>
              <a:rPr lang="en-IN" sz="1400" i="1" dirty="0"/>
              <a:t>[11] F. Chollet, Deep Learning with Python, Manning Publications, 2018.</a:t>
            </a:r>
          </a:p>
          <a:p>
            <a:pPr marL="0" indent="0">
              <a:buNone/>
            </a:pPr>
            <a:r>
              <a:rPr lang="en-IN" sz="1400" i="1" dirty="0"/>
              <a:t>[12] K. P. Murphy, Machine Learning: A Probabilistic Perspective, MIT Press, 2012.</a:t>
            </a:r>
          </a:p>
        </p:txBody>
      </p:sp>
    </p:spTree>
    <p:extLst>
      <p:ext uri="{BB962C8B-B14F-4D97-AF65-F5344CB8AC3E}">
        <p14:creationId xmlns:p14="http://schemas.microsoft.com/office/powerpoint/2010/main" val="2724917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1287</Words>
  <Application>Microsoft Macintosh PowerPoint</Application>
  <PresentationFormat>Widescreen</PresentationFormat>
  <Paragraphs>157</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Calibri</vt:lpstr>
      <vt:lpstr>Wingdings</vt:lpstr>
      <vt:lpstr>Office Theme</vt:lpstr>
      <vt:lpstr>“Multi Modal Fashion Trend Analysis using Ensemble Model”</vt:lpstr>
      <vt:lpstr>Outline</vt:lpstr>
      <vt:lpstr>Introduction</vt:lpstr>
      <vt:lpstr>Approach</vt:lpstr>
      <vt:lpstr>Literature Review</vt:lpstr>
      <vt:lpstr>PowerPoint Presentation</vt:lpstr>
      <vt:lpstr>Problem Statement</vt:lpstr>
      <vt:lpstr>Objectives</vt:lpstr>
      <vt:lpstr>Proposed Methodology </vt:lpstr>
      <vt:lpstr>PowerPoint Presentation</vt:lpstr>
      <vt:lpstr>PowerPoint Presentation</vt:lpstr>
      <vt:lpstr>PowerPoint Presentation</vt:lpstr>
      <vt:lpstr>PowerPoint Presentation</vt:lpstr>
      <vt:lpstr>PowerPoint Presentation</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[BTECH-005-2023-24] KAYAN ABHIJITPATEL</cp:lastModifiedBy>
  <cp:revision>11</cp:revision>
  <dcterms:created xsi:type="dcterms:W3CDTF">2025-09-29T05:03:41Z</dcterms:created>
  <dcterms:modified xsi:type="dcterms:W3CDTF">2026-04-14T06:56:57Z</dcterms:modified>
</cp:coreProperties>
</file>